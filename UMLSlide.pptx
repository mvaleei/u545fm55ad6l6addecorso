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70" r:id="rId2"/>
    <p:sldId id="308" r:id="rId3"/>
    <p:sldId id="371" r:id="rId4"/>
    <p:sldId id="370" r:id="rId5"/>
    <p:sldId id="369" r:id="rId6"/>
    <p:sldId id="368" r:id="rId7"/>
    <p:sldId id="372" r:id="rId8"/>
    <p:sldId id="373" r:id="rId9"/>
    <p:sldId id="344" r:id="rId10"/>
    <p:sldId id="258" r:id="rId11"/>
    <p:sldId id="374" r:id="rId12"/>
    <p:sldId id="375" r:id="rId13"/>
    <p:sldId id="376" r:id="rId14"/>
    <p:sldId id="307" r:id="rId15"/>
    <p:sldId id="257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377" r:id="rId37"/>
    <p:sldId id="378" r:id="rId38"/>
    <p:sldId id="280" r:id="rId39"/>
    <p:sldId id="281" r:id="rId40"/>
    <p:sldId id="282" r:id="rId41"/>
    <p:sldId id="283" r:id="rId42"/>
    <p:sldId id="284" r:id="rId43"/>
    <p:sldId id="285" r:id="rId44"/>
    <p:sldId id="286" r:id="rId45"/>
    <p:sldId id="287" r:id="rId46"/>
    <p:sldId id="288" r:id="rId47"/>
    <p:sldId id="289" r:id="rId48"/>
    <p:sldId id="290" r:id="rId49"/>
    <p:sldId id="291" r:id="rId50"/>
    <p:sldId id="379" r:id="rId51"/>
    <p:sldId id="292" r:id="rId52"/>
    <p:sldId id="293" r:id="rId53"/>
    <p:sldId id="294" r:id="rId54"/>
    <p:sldId id="295" r:id="rId55"/>
    <p:sldId id="296" r:id="rId56"/>
    <p:sldId id="297" r:id="rId57"/>
    <p:sldId id="298" r:id="rId58"/>
    <p:sldId id="299" r:id="rId59"/>
    <p:sldId id="300" r:id="rId60"/>
    <p:sldId id="301" r:id="rId61"/>
    <p:sldId id="302" r:id="rId62"/>
    <p:sldId id="303" r:id="rId63"/>
    <p:sldId id="304" r:id="rId64"/>
    <p:sldId id="305" r:id="rId65"/>
    <p:sldId id="306" r:id="rId6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449" autoAdjust="0"/>
    <p:restoredTop sz="94660"/>
  </p:normalViewPr>
  <p:slideViewPr>
    <p:cSldViewPr snapToGrid="0">
      <p:cViewPr>
        <p:scale>
          <a:sx n="75" d="100"/>
          <a:sy n="75" d="100"/>
        </p:scale>
        <p:origin x="730" y="2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CED97-B4CD-4C47-A533-569F6674A4BE}" type="datetimeFigureOut">
              <a:rPr lang="it-IT" smtClean="0"/>
              <a:t>18/05/2026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B91A-F79A-4ACB-B77F-82D28035530D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CED97-B4CD-4C47-A533-569F6674A4BE}" type="datetimeFigureOut">
              <a:rPr lang="it-IT" smtClean="0"/>
              <a:t>18/05/2026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B91A-F79A-4ACB-B77F-82D28035530D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CED97-B4CD-4C47-A533-569F6674A4BE}" type="datetimeFigureOut">
              <a:rPr lang="it-IT" smtClean="0"/>
              <a:t>18/05/2026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B91A-F79A-4ACB-B77F-82D28035530D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CED97-B4CD-4C47-A533-569F6674A4BE}" type="datetimeFigureOut">
              <a:rPr lang="it-IT" smtClean="0"/>
              <a:t>18/05/2026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B91A-F79A-4ACB-B77F-82D28035530D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CED97-B4CD-4C47-A533-569F6674A4BE}" type="datetimeFigureOut">
              <a:rPr lang="it-IT" smtClean="0"/>
              <a:t>18/05/2026</a:t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B91A-F79A-4ACB-B77F-82D28035530D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CED97-B4CD-4C47-A533-569F6674A4BE}" type="datetimeFigureOut">
              <a:rPr lang="it-IT" smtClean="0"/>
              <a:t>18/05/2026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B91A-F79A-4ACB-B77F-82D28035530D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CED97-B4CD-4C47-A533-569F6674A4BE}" type="datetimeFigureOut">
              <a:rPr lang="it-IT" smtClean="0"/>
              <a:t>18/05/2026</a:t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B91A-F79A-4ACB-B77F-82D28035530D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CED97-B4CD-4C47-A533-569F6674A4BE}" type="datetimeFigureOut">
              <a:rPr lang="it-IT" smtClean="0"/>
              <a:t>18/05/2026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B91A-F79A-4ACB-B77F-82D28035530D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CED97-B4CD-4C47-A533-569F6674A4BE}" type="datetimeFigureOut">
              <a:rPr lang="it-IT" smtClean="0"/>
              <a:t>18/05/2026</a:t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B91A-F79A-4ACB-B77F-82D28035530D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CED97-B4CD-4C47-A533-569F6674A4BE}" type="datetimeFigureOut">
              <a:rPr lang="it-IT" smtClean="0"/>
              <a:t>18/05/2026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B91A-F79A-4ACB-B77F-82D28035530D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CED97-B4CD-4C47-A533-569F6674A4BE}" type="datetimeFigureOut">
              <a:rPr lang="it-IT" smtClean="0"/>
              <a:t>18/05/2026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AB91A-F79A-4ACB-B77F-82D28035530D}" type="slidenum">
              <a:rPr lang="it-IT" smtClean="0"/>
              <a:t>‹N›</a:t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CED97-B4CD-4C47-A533-569F6674A4BE}" type="datetimeFigureOut">
              <a:rPr lang="it-IT" smtClean="0"/>
              <a:t>18/05/2026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AAB91A-F79A-4ACB-B77F-82D28035530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56509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/>
          <p:cNvSpPr txBox="1"/>
          <p:nvPr/>
        </p:nvSpPr>
        <p:spPr>
          <a:xfrm>
            <a:off x="-478172" y="3749878"/>
            <a:ext cx="1252895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3200" dirty="0" err="1">
                <a:latin typeface="Bahnschrift Condensed" panose="020B0502040204020203" pitchFamily="34" charset="0"/>
              </a:rPr>
              <a:t>Uniﬁed</a:t>
            </a:r>
            <a:r>
              <a:rPr lang="it-IT" sz="3200" dirty="0">
                <a:latin typeface="Bahnschrift Condensed" panose="020B0502040204020203" pitchFamily="34" charset="0"/>
              </a:rPr>
              <a:t> </a:t>
            </a:r>
            <a:r>
              <a:rPr lang="it-IT" sz="3200" dirty="0" err="1">
                <a:latin typeface="Bahnschrift Condensed" panose="020B0502040204020203" pitchFamily="34" charset="0"/>
              </a:rPr>
              <a:t>Modeling</a:t>
            </a:r>
            <a:r>
              <a:rPr lang="it-IT" sz="3200" dirty="0">
                <a:latin typeface="Bahnschrift Condensed" panose="020B0502040204020203" pitchFamily="34" charset="0"/>
              </a:rPr>
              <a:t> Language</a:t>
            </a:r>
          </a:p>
          <a:p>
            <a:pPr algn="ctr"/>
            <a:endParaRPr lang="it-IT" dirty="0">
              <a:latin typeface="Bahnschrift Condensed" panose="020B0502040204020203" pitchFamily="34" charset="0"/>
            </a:endParaRPr>
          </a:p>
          <a:p>
            <a:pPr algn="ctr"/>
            <a:r>
              <a:rPr lang="it-IT" dirty="0">
                <a:latin typeface="Bahnschrift Condensed" panose="020B0502040204020203" pitchFamily="34" charset="0"/>
              </a:rPr>
              <a:t>Marcello Valeri</a:t>
            </a:r>
          </a:p>
        </p:txBody>
      </p:sp>
    </p:spTree>
    <p:extLst>
      <p:ext uri="{BB962C8B-B14F-4D97-AF65-F5344CB8AC3E}">
        <p14:creationId xmlns:p14="http://schemas.microsoft.com/office/powerpoint/2010/main" val="4036952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CasellaDiTesto 4">
            <a:extLst>
              <a:ext uri="{FF2B5EF4-FFF2-40B4-BE49-F238E27FC236}">
                <a16:creationId xmlns:a16="http://schemas.microsoft.com/office/drawing/2014/main" id="{B5E9354F-D7DD-3C4E-5C6B-5F7EF2B8D6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2136776"/>
            <a:ext cx="5310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it-IT" altLang="it-IT" sz="2800">
                <a:solidFill>
                  <a:srgbClr val="DB2A24"/>
                </a:solidFill>
                <a:latin typeface="Arial" panose="020B0604020202020204" pitchFamily="34" charset="0"/>
              </a:rPr>
              <a:t>Realizzazione del software</a:t>
            </a:r>
            <a:endParaRPr lang="it-IT" altLang="it-IT" sz="1800">
              <a:latin typeface="Arial" panose="020B0604020202020204" pitchFamily="34" charset="0"/>
            </a:endParaRPr>
          </a:p>
        </p:txBody>
      </p:sp>
      <p:sp>
        <p:nvSpPr>
          <p:cNvPr id="39939" name="CasellaDiTesto 6">
            <a:extLst>
              <a:ext uri="{FF2B5EF4-FFF2-40B4-BE49-F238E27FC236}">
                <a16:creationId xmlns:a16="http://schemas.microsoft.com/office/drawing/2014/main" id="{1EB22DE2-38CA-9019-7BCE-292532E84E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1" y="2708275"/>
            <a:ext cx="5381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it-IT" altLang="it-IT" sz="1800">
                <a:latin typeface="Arial" panose="020B0604020202020204" pitchFamily="34" charset="0"/>
              </a:rPr>
              <a:t>Da un’analisi di 13.522 progetti di costruzione sw: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CasellaDiTesto 4">
            <a:extLst>
              <a:ext uri="{FF2B5EF4-FFF2-40B4-BE49-F238E27FC236}">
                <a16:creationId xmlns:a16="http://schemas.microsoft.com/office/drawing/2014/main" id="{5378A725-AB7D-EDB3-C937-2FC91F39F6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2136776"/>
            <a:ext cx="5310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it-IT" altLang="it-IT" sz="2800">
                <a:solidFill>
                  <a:srgbClr val="DB2A24"/>
                </a:solidFill>
                <a:latin typeface="Arial" panose="020B0604020202020204" pitchFamily="34" charset="0"/>
              </a:rPr>
              <a:t>Realizzazione del software</a:t>
            </a:r>
            <a:endParaRPr lang="it-IT" altLang="it-IT" sz="1800">
              <a:latin typeface="Arial" panose="020B0604020202020204" pitchFamily="34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FCE8F45-52DD-4027-5B23-7DDB081A9A82}"/>
              </a:ext>
            </a:extLst>
          </p:cNvPr>
          <p:cNvSpPr txBox="1"/>
          <p:nvPr/>
        </p:nvSpPr>
        <p:spPr>
          <a:xfrm>
            <a:off x="3810001" y="2708276"/>
            <a:ext cx="5381625" cy="9239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it-IT" dirty="0"/>
              <a:t>Da un’analisi di 13.522 progetti di costruzione </a:t>
            </a:r>
            <a:r>
              <a:rPr lang="it-IT" dirty="0" err="1"/>
              <a:t>sw</a:t>
            </a:r>
            <a:r>
              <a:rPr lang="it-IT" dirty="0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it-IT" dirty="0"/>
              <a:t>– 66% di tutti i progetti falliscono (non hanno risultato utile)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CasellaDiTesto 4">
            <a:extLst>
              <a:ext uri="{FF2B5EF4-FFF2-40B4-BE49-F238E27FC236}">
                <a16:creationId xmlns:a16="http://schemas.microsoft.com/office/drawing/2014/main" id="{190D581C-0160-A42A-B81A-3F1BEE38F6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2136776"/>
            <a:ext cx="5310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it-IT" altLang="it-IT" sz="2800">
                <a:solidFill>
                  <a:srgbClr val="DB2A24"/>
                </a:solidFill>
                <a:latin typeface="Arial" panose="020B0604020202020204" pitchFamily="34" charset="0"/>
              </a:rPr>
              <a:t>Realizzazione del software</a:t>
            </a:r>
            <a:endParaRPr lang="it-IT" altLang="it-IT" sz="1800">
              <a:latin typeface="Arial" panose="020B0604020202020204" pitchFamily="34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1E93219-7B5E-253F-5EA3-F967A5FC5D8E}"/>
              </a:ext>
            </a:extLst>
          </p:cNvPr>
          <p:cNvSpPr txBox="1"/>
          <p:nvPr/>
        </p:nvSpPr>
        <p:spPr>
          <a:xfrm>
            <a:off x="3810001" y="2708275"/>
            <a:ext cx="5381625" cy="12017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it-IT" dirty="0"/>
              <a:t>Da un’analisi di 13.522 progetti di costruzione </a:t>
            </a:r>
            <a:r>
              <a:rPr lang="it-IT" dirty="0" err="1"/>
              <a:t>sw</a:t>
            </a:r>
            <a:r>
              <a:rPr lang="it-IT" dirty="0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it-IT" dirty="0"/>
              <a:t>– 66% di tutti i progetti falliscono (non hanno risultato utile)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it-IT" dirty="0"/>
              <a:t>– 82% dei progetti superano i tempi previsti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CasellaDiTesto 4">
            <a:extLst>
              <a:ext uri="{FF2B5EF4-FFF2-40B4-BE49-F238E27FC236}">
                <a16:creationId xmlns:a16="http://schemas.microsoft.com/office/drawing/2014/main" id="{62FF5239-4CE5-CE25-CBD8-78B7446244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2136776"/>
            <a:ext cx="5310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it-IT" altLang="it-IT" sz="2800">
                <a:solidFill>
                  <a:srgbClr val="DB2A24"/>
                </a:solidFill>
                <a:latin typeface="Arial" panose="020B0604020202020204" pitchFamily="34" charset="0"/>
              </a:rPr>
              <a:t>Realizzazione del software</a:t>
            </a:r>
            <a:endParaRPr lang="it-IT" altLang="it-IT" sz="1800">
              <a:latin typeface="Arial" panose="020B0604020202020204" pitchFamily="34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19A2DB69-98E1-0368-6A67-DF0F5158080A}"/>
              </a:ext>
            </a:extLst>
          </p:cNvPr>
          <p:cNvSpPr txBox="1"/>
          <p:nvPr/>
        </p:nvSpPr>
        <p:spPr>
          <a:xfrm>
            <a:off x="3810001" y="2708275"/>
            <a:ext cx="5381625" cy="17541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it-IT" dirty="0"/>
              <a:t>Da un’analisi di 13.522 progetti di costruzione </a:t>
            </a:r>
            <a:r>
              <a:rPr lang="it-IT" dirty="0" err="1"/>
              <a:t>sw</a:t>
            </a:r>
            <a:r>
              <a:rPr lang="it-IT" dirty="0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it-IT" dirty="0"/>
              <a:t>– 66% di tutti i progetti falliscono (non hanno risultato utile)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it-IT" dirty="0"/>
              <a:t>– 82% dei progetti superano i tempi previsti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it-IT" dirty="0"/>
              <a:t>– 48% dei progetti producono sistemi senza le funzioni richieste dai clienti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CasellaDiTesto 4">
            <a:extLst>
              <a:ext uri="{FF2B5EF4-FFF2-40B4-BE49-F238E27FC236}">
                <a16:creationId xmlns:a16="http://schemas.microsoft.com/office/drawing/2014/main" id="{CEB7BCEF-1668-F3F2-2E2A-5048723446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2136776"/>
            <a:ext cx="5310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it-IT" altLang="it-IT" sz="2800">
                <a:solidFill>
                  <a:srgbClr val="DB2A24"/>
                </a:solidFill>
                <a:latin typeface="Arial" panose="020B0604020202020204" pitchFamily="34" charset="0"/>
              </a:rPr>
              <a:t>Realizzazione del software</a:t>
            </a:r>
            <a:endParaRPr lang="it-IT" altLang="it-IT" sz="1800">
              <a:latin typeface="Arial" panose="020B0604020202020204" pitchFamily="34" charset="0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D5167A4F-9ECF-DC0E-20A0-67F3E2713A58}"/>
              </a:ext>
            </a:extLst>
          </p:cNvPr>
          <p:cNvSpPr txBox="1"/>
          <p:nvPr/>
        </p:nvSpPr>
        <p:spPr>
          <a:xfrm>
            <a:off x="3810001" y="2708276"/>
            <a:ext cx="5381625" cy="2308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it-IT" dirty="0"/>
              <a:t>Da un’analisi di 13.522 progetti di costruzione </a:t>
            </a:r>
            <a:r>
              <a:rPr lang="it-IT" dirty="0" err="1"/>
              <a:t>sw</a:t>
            </a:r>
            <a:r>
              <a:rPr lang="it-IT" dirty="0"/>
              <a:t>: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it-IT" dirty="0"/>
              <a:t>– 66% di tutti i progetti falliscono (non hanno risultato utile)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it-IT" dirty="0"/>
              <a:t>– 82% dei progetti superano i tempi previsti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it-IT" dirty="0"/>
              <a:t>– 48% dei progetti producono sistemi senza le funzioni richieste dai clienti 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it-IT" dirty="0"/>
              <a:t>– 55 miliardi $ di spreco considerando solo i progetti USA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CasellaDiTesto 4">
            <a:extLst>
              <a:ext uri="{FF2B5EF4-FFF2-40B4-BE49-F238E27FC236}">
                <a16:creationId xmlns:a16="http://schemas.microsoft.com/office/drawing/2014/main" id="{5146E7B1-3B61-F4E7-A0A1-10921C4EE8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2136776"/>
            <a:ext cx="5310188" cy="1908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it-IT" altLang="it-IT" sz="2800">
                <a:solidFill>
                  <a:srgbClr val="DB2A24"/>
                </a:solidFill>
                <a:latin typeface="Arial" panose="020B0604020202020204" pitchFamily="34" charset="0"/>
              </a:rPr>
              <a:t>Ingegneria del software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it-IT" altLang="it-IT" sz="1800">
                <a:latin typeface="Arial" panose="020B0604020202020204" pitchFamily="34" charset="0"/>
              </a:rPr>
              <a:t>• L’Ingegneria del Sw (Software Engineering) è una disciplina metodologica, cioè studia i metodi di produzione, le teorie alla base dei metodi, e gli strumenti efficaci di sviluppo e misura della qualità di sistemi software complessi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CasellaDiTesto 4">
            <a:extLst>
              <a:ext uri="{FF2B5EF4-FFF2-40B4-BE49-F238E27FC236}">
                <a16:creationId xmlns:a16="http://schemas.microsoft.com/office/drawing/2014/main" id="{C08A3B78-4D51-9266-3E1F-642C9590A1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2136775"/>
            <a:ext cx="5310188" cy="2738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it-IT" altLang="it-IT" sz="2800">
                <a:solidFill>
                  <a:srgbClr val="DB2A24"/>
                </a:solidFill>
                <a:latin typeface="Arial" panose="020B0604020202020204" pitchFamily="34" charset="0"/>
              </a:rPr>
              <a:t>Ingegneria del software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it-IT" altLang="it-IT" sz="1800">
                <a:latin typeface="Arial" panose="020B0604020202020204" pitchFamily="34" charset="0"/>
              </a:rPr>
              <a:t>• L’Ingegneria del Sw (Software Engineering) è una disciplina metodologica, cioè studia i metodi di produzione, le teorie alla base dei metodi, e gli strumenti efficaci di sviluppo e misura della qualità di sistemi software complessi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it-IT" altLang="it-IT" sz="1800">
                <a:latin typeface="Arial" panose="020B0604020202020204" pitchFamily="34" charset="0"/>
              </a:rPr>
              <a:t>• E’ tuttavia anche una disciplina empirica, cioè basata sull’esperienza e sulla storia dei progetti passati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CasellaDiTesto 5">
            <a:extLst>
              <a:ext uri="{FF2B5EF4-FFF2-40B4-BE49-F238E27FC236}">
                <a16:creationId xmlns:a16="http://schemas.microsoft.com/office/drawing/2014/main" id="{238BADE8-6AFB-6C2B-B0A3-6B4DE74441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56410" y="2336393"/>
            <a:ext cx="6479179" cy="2185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it-IT" altLang="it-IT" sz="2800" dirty="0">
                <a:solidFill>
                  <a:srgbClr val="FF0000"/>
                </a:solidFill>
                <a:latin typeface="Arial" panose="020B0604020202020204" pitchFamily="34" charset="0"/>
              </a:rPr>
              <a:t>Modelli generici di processo software</a:t>
            </a:r>
            <a:r>
              <a:rPr lang="it-IT" altLang="it-IT" sz="1800" dirty="0">
                <a:latin typeface="Arial" panose="020B0604020202020204" pitchFamily="34" charset="0"/>
              </a:rPr>
              <a:t>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it-IT" altLang="it-IT" sz="1800" dirty="0">
                <a:latin typeface="Arial" panose="020B0604020202020204" pitchFamily="34" charset="0"/>
              </a:rPr>
              <a:t>• Modello a cascata (esempio: </a:t>
            </a:r>
            <a:r>
              <a:rPr lang="it-IT" altLang="it-IT" sz="1800" dirty="0" err="1">
                <a:latin typeface="Arial" panose="020B0604020202020204" pitchFamily="34" charset="0"/>
              </a:rPr>
              <a:t>Waterfall</a:t>
            </a:r>
            <a:r>
              <a:rPr lang="it-IT" altLang="it-IT" sz="1800" dirty="0">
                <a:latin typeface="Arial" panose="020B0604020202020204" pitchFamily="34" charset="0"/>
              </a:rPr>
              <a:t>) 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it-IT" altLang="it-IT" sz="1800" dirty="0">
                <a:latin typeface="Arial" panose="020B0604020202020204" pitchFamily="34" charset="0"/>
              </a:rPr>
              <a:t>– Specifica e sviluppo sono separati e distinti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it-IT" altLang="it-IT" sz="1800" dirty="0">
                <a:latin typeface="Arial" panose="020B0604020202020204" pitchFamily="34" charset="0"/>
              </a:rPr>
              <a:t>• Modello iterativo (esempio: UP) 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it-IT" altLang="it-IT" sz="1800" dirty="0">
                <a:latin typeface="Arial" panose="020B0604020202020204" pitchFamily="34" charset="0"/>
              </a:rPr>
              <a:t>– Specifica e sviluppo sono ciclici e sovrapposti 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it-IT" altLang="it-IT" sz="1800" dirty="0">
                <a:latin typeface="Arial" panose="020B0604020202020204" pitchFamily="34" charset="0"/>
              </a:rPr>
              <a:t>• Modello agile </a:t>
            </a:r>
          </a:p>
          <a:p>
            <a:pPr lvl="1">
              <a:spcBef>
                <a:spcPct val="0"/>
              </a:spcBef>
              <a:buFontTx/>
              <a:buNone/>
            </a:pPr>
            <a:r>
              <a:rPr lang="it-IT" altLang="it-IT" sz="1800" dirty="0">
                <a:latin typeface="Arial" panose="020B0604020202020204" pitchFamily="34" charset="0"/>
              </a:rPr>
              <a:t>– Non pianificato, guidato dall’utente e dai test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927108"/>
            <a:ext cx="10515600" cy="839788"/>
          </a:xfrm>
        </p:spPr>
        <p:txBody>
          <a:bodyPr/>
          <a:lstStyle/>
          <a:p>
            <a:pPr algn="ctr"/>
            <a:r>
              <a:rPr lang="it-IT" dirty="0"/>
              <a:t>I progetti software sono complessi 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814516" y="1825624"/>
            <a:ext cx="10515600" cy="4793289"/>
          </a:xfrm>
        </p:spPr>
        <p:txBody>
          <a:bodyPr>
            <a:normAutofit/>
          </a:bodyPr>
          <a:lstStyle/>
          <a:p>
            <a:r>
              <a:rPr lang="it-IT" dirty="0"/>
              <a:t>Il tipico progetto software raramente coinvolge un solo sviluppatore, e può coinvolgerne anche centinaia:  </a:t>
            </a:r>
          </a:p>
          <a:p>
            <a:pPr lvl="1"/>
            <a:r>
              <a:rPr lang="it-IT" dirty="0"/>
              <a:t>separare compiti e responsabilità  </a:t>
            </a:r>
          </a:p>
          <a:p>
            <a:pPr lvl="1"/>
            <a:r>
              <a:rPr lang="it-IT" dirty="0"/>
              <a:t>raggruppare le informazioni a diversi livelli di granularità 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85588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F89EB-23BE-5A29-2640-25BD57ECFE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DCD56C6-26A7-BB25-3699-FFB709764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7108"/>
            <a:ext cx="10515600" cy="839788"/>
          </a:xfrm>
        </p:spPr>
        <p:txBody>
          <a:bodyPr/>
          <a:lstStyle/>
          <a:p>
            <a:pPr algn="ctr"/>
            <a:r>
              <a:rPr lang="it-IT" dirty="0"/>
              <a:t>I progetti software sono complessi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A89E24C9-2BBF-EDBD-0605-4286FB485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4516" y="1825624"/>
            <a:ext cx="10515600" cy="4793289"/>
          </a:xfrm>
        </p:spPr>
        <p:txBody>
          <a:bodyPr>
            <a:normAutofit/>
          </a:bodyPr>
          <a:lstStyle/>
          <a:p>
            <a:r>
              <a:rPr lang="it-IT" dirty="0"/>
              <a:t>Il tipico progetto software raramente coinvolge un solo sviluppatore, e può coinvolgerne anche centinaia:  </a:t>
            </a:r>
          </a:p>
          <a:p>
            <a:pPr lvl="1"/>
            <a:r>
              <a:rPr lang="it-IT" dirty="0"/>
              <a:t>separare compiti e responsabilità  </a:t>
            </a:r>
          </a:p>
          <a:p>
            <a:pPr lvl="1"/>
            <a:r>
              <a:rPr lang="it-IT" dirty="0"/>
              <a:t>raggruppare le informazioni a diversi livelli di granularità </a:t>
            </a:r>
          </a:p>
          <a:p>
            <a:r>
              <a:rPr lang="it-IT" dirty="0"/>
              <a:t>Il tipico progetto software subisce un ricambio di personale nel corso della sua storia:  </a:t>
            </a:r>
          </a:p>
          <a:p>
            <a:pPr lvl="1"/>
            <a:r>
              <a:rPr lang="it-IT" dirty="0"/>
              <a:t>il progetto perde conoscenza  </a:t>
            </a:r>
          </a:p>
          <a:p>
            <a:pPr lvl="1"/>
            <a:r>
              <a:rPr lang="it-IT" dirty="0"/>
              <a:t>nuovi sviluppatori devono acquisirla </a:t>
            </a:r>
          </a:p>
          <a:p>
            <a:pPr marL="0" indent="0">
              <a:buNone/>
            </a:pP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7060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8F81A-199C-1BFD-DCCD-10ADC306F8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12CC18D-8142-CD61-FDF4-D66635C86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7108"/>
            <a:ext cx="10515600" cy="839788"/>
          </a:xfrm>
        </p:spPr>
        <p:txBody>
          <a:bodyPr/>
          <a:lstStyle/>
          <a:p>
            <a:pPr algn="ctr"/>
            <a:r>
              <a:rPr lang="it-IT" dirty="0"/>
              <a:t>I progetti software sono complessi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F16BE4D-FA39-BCD3-CAA9-755E3362A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4516" y="1825624"/>
            <a:ext cx="10515600" cy="4793289"/>
          </a:xfrm>
        </p:spPr>
        <p:txBody>
          <a:bodyPr>
            <a:normAutofit lnSpcReduction="10000"/>
          </a:bodyPr>
          <a:lstStyle/>
          <a:p>
            <a:r>
              <a:rPr lang="it-IT" dirty="0"/>
              <a:t>Il tipico progetto software raramente coinvolge un solo sviluppatore, e può coinvolgerne anche centinaia:  </a:t>
            </a:r>
          </a:p>
          <a:p>
            <a:pPr lvl="1"/>
            <a:r>
              <a:rPr lang="it-IT" dirty="0"/>
              <a:t>separare compiti e responsabilità  </a:t>
            </a:r>
          </a:p>
          <a:p>
            <a:pPr lvl="1"/>
            <a:r>
              <a:rPr lang="it-IT" dirty="0"/>
              <a:t>raggruppare le informazioni a diversi livelli di granularità </a:t>
            </a:r>
          </a:p>
          <a:p>
            <a:r>
              <a:rPr lang="it-IT" dirty="0"/>
              <a:t>Il tipico progetto software subisce un ricambio di personale nel corso della sua storia:  </a:t>
            </a:r>
          </a:p>
          <a:p>
            <a:pPr lvl="1"/>
            <a:r>
              <a:rPr lang="it-IT" dirty="0"/>
              <a:t>il progetto perde conoscenza  </a:t>
            </a:r>
          </a:p>
          <a:p>
            <a:pPr lvl="1"/>
            <a:r>
              <a:rPr lang="it-IT" dirty="0"/>
              <a:t>nuovi sviluppatori devono acquisirla </a:t>
            </a:r>
          </a:p>
          <a:p>
            <a:r>
              <a:rPr lang="it-IT" dirty="0"/>
              <a:t>Le caratteristiche del progetto spesso mutano col tempo:  </a:t>
            </a:r>
          </a:p>
          <a:p>
            <a:pPr lvl="1"/>
            <a:r>
              <a:rPr lang="it-IT" dirty="0"/>
              <a:t>necessità di comunicare con il cliente in termini chiari  </a:t>
            </a:r>
          </a:p>
          <a:p>
            <a:pPr lvl="1"/>
            <a:r>
              <a:rPr lang="it-IT" dirty="0"/>
              <a:t>prevedere ed adattarsi ai cambiamenti  </a:t>
            </a:r>
          </a:p>
          <a:p>
            <a:pPr lvl="1"/>
            <a:r>
              <a:rPr lang="it-IT" dirty="0"/>
              <a:t>stimarne l’impatto su costi, tempi e risorse di sviluppo </a:t>
            </a:r>
          </a:p>
          <a:p>
            <a:pPr lvl="1"/>
            <a:endParaRPr lang="it-IT" dirty="0"/>
          </a:p>
          <a:p>
            <a:pPr marL="457200" lvl="1" indent="0">
              <a:buNone/>
            </a:pPr>
            <a:endParaRPr lang="it-IT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950048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D75CB-973D-8234-F11F-211862043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15EBF7-0403-49D3-33CD-A0FD7859A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7108"/>
            <a:ext cx="10515600" cy="839788"/>
          </a:xfrm>
        </p:spPr>
        <p:txBody>
          <a:bodyPr/>
          <a:lstStyle/>
          <a:p>
            <a:pPr algn="ctr"/>
            <a:r>
              <a:rPr lang="it-IT" dirty="0"/>
              <a:t>I progetti software sono complessi 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92782F3-009F-F6C4-F196-EBB0631689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4516" y="1825624"/>
            <a:ext cx="10515600" cy="4793289"/>
          </a:xfrm>
        </p:spPr>
        <p:txBody>
          <a:bodyPr>
            <a:normAutofit fontScale="85000" lnSpcReduction="20000"/>
          </a:bodyPr>
          <a:lstStyle/>
          <a:p>
            <a:r>
              <a:rPr lang="it-IT" dirty="0"/>
              <a:t>Il tipico progetto software raramente coinvolge un solo sviluppatore, e può coinvolgerne anche centinaia:  </a:t>
            </a:r>
          </a:p>
          <a:p>
            <a:pPr lvl="1"/>
            <a:r>
              <a:rPr lang="it-IT" dirty="0"/>
              <a:t>separare compiti e responsabilità  </a:t>
            </a:r>
          </a:p>
          <a:p>
            <a:pPr lvl="1"/>
            <a:r>
              <a:rPr lang="it-IT" dirty="0"/>
              <a:t>raggruppare le informazioni a diversi livelli di granularità </a:t>
            </a:r>
          </a:p>
          <a:p>
            <a:r>
              <a:rPr lang="it-IT" dirty="0"/>
              <a:t>Il tipico progetto software subisce un ricambio di personale nel corso della sua storia:  </a:t>
            </a:r>
          </a:p>
          <a:p>
            <a:pPr lvl="1"/>
            <a:r>
              <a:rPr lang="it-IT" dirty="0"/>
              <a:t>il progetto perde conoscenza  </a:t>
            </a:r>
          </a:p>
          <a:p>
            <a:pPr lvl="1"/>
            <a:r>
              <a:rPr lang="it-IT" dirty="0"/>
              <a:t>nuovi sviluppatori devono acquisirla </a:t>
            </a:r>
          </a:p>
          <a:p>
            <a:r>
              <a:rPr lang="it-IT" dirty="0"/>
              <a:t>Le caratteristiche del progetto spesso mutano col tempo:  </a:t>
            </a:r>
          </a:p>
          <a:p>
            <a:pPr lvl="1"/>
            <a:r>
              <a:rPr lang="it-IT" dirty="0"/>
              <a:t>necessità di comunicare con il cliente in termini chiari  </a:t>
            </a:r>
          </a:p>
          <a:p>
            <a:pPr lvl="1"/>
            <a:r>
              <a:rPr lang="it-IT" dirty="0"/>
              <a:t>prevedere ed adattarsi ai cambiamenti  </a:t>
            </a:r>
          </a:p>
          <a:p>
            <a:pPr lvl="1"/>
            <a:r>
              <a:rPr lang="it-IT" dirty="0"/>
              <a:t>stimarne l’impatto su costi, tempi e risorse di sviluppo </a:t>
            </a:r>
          </a:p>
          <a:p>
            <a:pPr lvl="1"/>
            <a:endParaRPr lang="it-IT" dirty="0"/>
          </a:p>
          <a:p>
            <a:pPr marL="457200" lvl="1" indent="0">
              <a:buNone/>
            </a:pPr>
            <a:endParaRPr lang="it-IT" dirty="0"/>
          </a:p>
          <a:p>
            <a:pPr marL="0" indent="0" algn="ctr">
              <a:buNone/>
            </a:pPr>
            <a:r>
              <a:rPr lang="it-IT" sz="3100" u="sng" dirty="0">
                <a:solidFill>
                  <a:srgbClr val="FF0000"/>
                </a:solidFill>
              </a:rPr>
              <a:t>Come si può ragionare su questo se non si sa su cosa si sta ragionando?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001729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844356"/>
            <a:ext cx="9144000" cy="1234943"/>
          </a:xfrm>
        </p:spPr>
        <p:txBody>
          <a:bodyPr/>
          <a:lstStyle/>
          <a:p>
            <a:r>
              <a:rPr lang="it-IT" dirty="0"/>
              <a:t>Modellare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2499919"/>
            <a:ext cx="9144000" cy="3754074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t-IT" dirty="0"/>
              <a:t>Un modello è un’astrazione che cattura le proprietà salienti della realtà che si desidera rappresentare.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t-IT" dirty="0"/>
              <a:t>Idealizza una realtà complessa, individuandone i tratti importanti e separandoli dai dettagli, facilitandone la comprensione.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t-IT" dirty="0"/>
              <a:t>La mente umana compie un’attività continua di modellazione, producendo schemi per comprendere e spiegare quello che viene percepito dai sensi.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it-IT" dirty="0"/>
              <a:t>La realtà è un’istanza del modello.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1364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1060458"/>
            <a:ext cx="10515600" cy="925513"/>
          </a:xfrm>
        </p:spPr>
        <p:txBody>
          <a:bodyPr/>
          <a:lstStyle/>
          <a:p>
            <a:pPr algn="ctr"/>
            <a:r>
              <a:rPr lang="it-IT" dirty="0"/>
              <a:t>Perché Modellare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38200" y="3025244"/>
            <a:ext cx="10515600" cy="2079450"/>
          </a:xfrm>
        </p:spPr>
        <p:txBody>
          <a:bodyPr/>
          <a:lstStyle/>
          <a:p>
            <a:r>
              <a:rPr lang="it-IT" dirty="0"/>
              <a:t>Per comprendere il soggetto in analisi. </a:t>
            </a:r>
          </a:p>
          <a:p>
            <a:r>
              <a:rPr lang="it-IT" dirty="0"/>
              <a:t>Per conoscere il soggetto in analisi (</a:t>
            </a:r>
            <a:r>
              <a:rPr lang="it-IT" dirty="0" err="1"/>
              <a:t>ﬁssando</a:t>
            </a:r>
            <a:r>
              <a:rPr lang="it-IT" dirty="0"/>
              <a:t> ciò che si è compreso).</a:t>
            </a:r>
          </a:p>
          <a:p>
            <a:r>
              <a:rPr lang="it-IT" dirty="0"/>
              <a:t>Per comunicare la conoscenza del soggetto.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293311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42963" y="879482"/>
            <a:ext cx="10515600" cy="973138"/>
          </a:xfrm>
        </p:spPr>
        <p:txBody>
          <a:bodyPr/>
          <a:lstStyle/>
          <a:p>
            <a:pPr algn="ctr"/>
            <a:r>
              <a:rPr lang="it-IT" dirty="0"/>
              <a:t>I linguaggi di modellazione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481145" y="2344744"/>
            <a:ext cx="10515600" cy="3875088"/>
          </a:xfrm>
        </p:spPr>
        <p:txBody>
          <a:bodyPr/>
          <a:lstStyle/>
          <a:p>
            <a:r>
              <a:rPr lang="it-IT" dirty="0"/>
              <a:t>Un linguaggio di modellazione fornisce le primitive a cui ricondurre la realtà in esame. </a:t>
            </a:r>
          </a:p>
          <a:p>
            <a:r>
              <a:rPr lang="it-IT" dirty="0"/>
              <a:t>Permette di esprimere le entità che compongono un sistema complesso, le loro caratteristiche e le relazioni che le collegano.</a:t>
            </a:r>
          </a:p>
          <a:p>
            <a:r>
              <a:rPr lang="it-IT" dirty="0"/>
              <a:t>Nell’ambito di un progetto, il linguaggio di modellazione è normalmente distinto dal processo di sviluppo:  </a:t>
            </a:r>
          </a:p>
          <a:p>
            <a:pPr lvl="1"/>
            <a:r>
              <a:rPr lang="it-IT" dirty="0"/>
              <a:t>il linguaggio descrive cosa deve essere ottenuto;  </a:t>
            </a:r>
          </a:p>
          <a:p>
            <a:pPr lvl="1"/>
            <a:r>
              <a:rPr lang="it-IT" dirty="0"/>
              <a:t>il processo descrive i passi da intraprendere per ottenerlo;  </a:t>
            </a:r>
          </a:p>
          <a:p>
            <a:pPr lvl="1"/>
            <a:r>
              <a:rPr lang="it-IT" dirty="0"/>
              <a:t>insieme, linguaggio e processo </a:t>
            </a:r>
            <a:r>
              <a:rPr lang="it-IT" dirty="0" err="1"/>
              <a:t>deﬁniscono</a:t>
            </a:r>
            <a:r>
              <a:rPr lang="it-IT" dirty="0"/>
              <a:t> un metodo di sviluppo.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6414462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927107"/>
            <a:ext cx="10515600" cy="849313"/>
          </a:xfrm>
        </p:spPr>
        <p:txBody>
          <a:bodyPr/>
          <a:lstStyle/>
          <a:p>
            <a:pPr algn="ctr"/>
            <a:r>
              <a:rPr lang="it-IT" dirty="0"/>
              <a:t>Che cos’è UML Parte 1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447810" y="2387607"/>
            <a:ext cx="10515600" cy="4351338"/>
          </a:xfrm>
        </p:spPr>
        <p:txBody>
          <a:bodyPr>
            <a:normAutofit fontScale="92500" lnSpcReduction="10000"/>
          </a:bodyPr>
          <a:lstStyle/>
          <a:p>
            <a:r>
              <a:rPr lang="it-IT" dirty="0"/>
              <a:t>UML, </a:t>
            </a:r>
            <a:r>
              <a:rPr lang="it-IT" dirty="0" err="1"/>
              <a:t>Uniﬁed</a:t>
            </a:r>
            <a:r>
              <a:rPr lang="it-IT" dirty="0"/>
              <a:t> </a:t>
            </a:r>
            <a:r>
              <a:rPr lang="it-IT" dirty="0" err="1"/>
              <a:t>Modeling</a:t>
            </a:r>
            <a:r>
              <a:rPr lang="it-IT" dirty="0"/>
              <a:t> Language, è un linguaggio </a:t>
            </a:r>
            <a:r>
              <a:rPr lang="it-IT" dirty="0" err="1"/>
              <a:t>semiformale</a:t>
            </a:r>
            <a:r>
              <a:rPr lang="it-IT" dirty="0"/>
              <a:t> e </a:t>
            </a:r>
            <a:r>
              <a:rPr lang="it-IT" dirty="0" err="1"/>
              <a:t>graﬁco</a:t>
            </a:r>
            <a:r>
              <a:rPr lang="it-IT" dirty="0"/>
              <a:t> (basato su diagrammi) per </a:t>
            </a:r>
            <a:r>
              <a:rPr lang="it-IT" dirty="0" err="1"/>
              <a:t>speciﬁcare</a:t>
            </a:r>
            <a:r>
              <a:rPr lang="it-IT" dirty="0"/>
              <a:t>, visualizzare, costruire e documentare gli artefatti di un sistema software. </a:t>
            </a:r>
          </a:p>
          <a:p>
            <a:r>
              <a:rPr lang="it-IT" dirty="0"/>
              <a:t>Permette di:  </a:t>
            </a:r>
          </a:p>
          <a:p>
            <a:pPr lvl="1"/>
            <a:r>
              <a:rPr lang="it-IT" dirty="0"/>
              <a:t>modellare un dominio  </a:t>
            </a:r>
          </a:p>
          <a:p>
            <a:pPr lvl="1"/>
            <a:r>
              <a:rPr lang="it-IT" dirty="0"/>
              <a:t>scrivere i requisiti di un sistema software  </a:t>
            </a:r>
          </a:p>
          <a:p>
            <a:pPr lvl="1"/>
            <a:r>
              <a:rPr lang="it-IT" dirty="0"/>
              <a:t>descrivere l’architettura del sistema  </a:t>
            </a:r>
          </a:p>
          <a:p>
            <a:pPr lvl="1"/>
            <a:r>
              <a:rPr lang="it-IT" dirty="0"/>
              <a:t>descrivere struttura e comportamento di un sistema  </a:t>
            </a:r>
          </a:p>
          <a:p>
            <a:pPr lvl="1"/>
            <a:r>
              <a:rPr lang="it-IT" dirty="0"/>
              <a:t>documentare un’applicazione  </a:t>
            </a:r>
          </a:p>
          <a:p>
            <a:pPr lvl="1"/>
            <a:r>
              <a:rPr lang="it-IT" dirty="0"/>
              <a:t>generare automaticamente un’implementazione </a:t>
            </a:r>
          </a:p>
          <a:p>
            <a:r>
              <a:rPr lang="it-IT" dirty="0"/>
              <a:t>Gli stessi modelli UML sono quindi artefatti usati per sviluppare il sistema e comunicare con il cliente (ma anche con progettisti/sviluppatori/etc.)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19318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903299"/>
            <a:ext cx="10515600" cy="806450"/>
          </a:xfrm>
        </p:spPr>
        <p:txBody>
          <a:bodyPr/>
          <a:lstStyle/>
          <a:p>
            <a:pPr algn="ctr"/>
            <a:r>
              <a:rPr lang="it-IT" dirty="0"/>
              <a:t>Che cos’è UML Parte 2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362084" y="2478096"/>
            <a:ext cx="10515600" cy="3370263"/>
          </a:xfrm>
        </p:spPr>
        <p:txBody>
          <a:bodyPr/>
          <a:lstStyle/>
          <a:p>
            <a:r>
              <a:rPr lang="it-IT" dirty="0"/>
              <a:t>Si tratta di un linguaggio di modellazione usato per capire e descrivere le caratteristiche di un nuovo sistema o di uno esistente.</a:t>
            </a:r>
          </a:p>
          <a:p>
            <a:r>
              <a:rPr lang="it-IT" dirty="0"/>
              <a:t>Indipendente dall’ambito del progetto. </a:t>
            </a:r>
          </a:p>
          <a:p>
            <a:r>
              <a:rPr lang="it-IT" dirty="0"/>
              <a:t>Indipendente dal processo di sviluppo. </a:t>
            </a:r>
          </a:p>
          <a:p>
            <a:r>
              <a:rPr lang="it-IT" dirty="0"/>
              <a:t>Indipendente dal linguaggio di programmazione (progettato per essere abbinato alla maggior parte dei linguaggi </a:t>
            </a:r>
            <a:r>
              <a:rPr lang="it-IT" dirty="0" err="1"/>
              <a:t>object-oriented</a:t>
            </a:r>
            <a:r>
              <a:rPr lang="it-IT" dirty="0"/>
              <a:t>). </a:t>
            </a:r>
          </a:p>
          <a:p>
            <a:r>
              <a:rPr lang="it-IT" dirty="0"/>
              <a:t>Fa parte di un metodo di sviluppo, non è esso stesso il metodo.</a:t>
            </a:r>
          </a:p>
        </p:txBody>
      </p:sp>
    </p:spTree>
    <p:extLst>
      <p:ext uri="{BB962C8B-B14F-4D97-AF65-F5344CB8AC3E}">
        <p14:creationId xmlns:p14="http://schemas.microsoft.com/office/powerpoint/2010/main" val="33608617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1055695"/>
            <a:ext cx="10515600" cy="663575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/>
              <a:t>L come Linguaggio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528762" y="2230438"/>
            <a:ext cx="10515600" cy="3484563"/>
          </a:xfrm>
        </p:spPr>
        <p:txBody>
          <a:bodyPr>
            <a:normAutofit lnSpcReduction="10000"/>
          </a:bodyPr>
          <a:lstStyle/>
          <a:p>
            <a:r>
              <a:rPr lang="it-IT" dirty="0"/>
              <a:t>Si tratta di un vero e proprio linguaggio, non di una semplice notazione </a:t>
            </a:r>
            <a:r>
              <a:rPr lang="it-IT" dirty="0" err="1"/>
              <a:t>graﬁca</a:t>
            </a:r>
            <a:r>
              <a:rPr lang="it-IT" dirty="0"/>
              <a:t>. </a:t>
            </a:r>
          </a:p>
          <a:p>
            <a:r>
              <a:rPr lang="it-IT" dirty="0"/>
              <a:t>Un modello UML è costituito da un insieme di elementi che hanno anche una rappresentazione </a:t>
            </a:r>
            <a:r>
              <a:rPr lang="it-IT" dirty="0" err="1"/>
              <a:t>graﬁca</a:t>
            </a:r>
            <a:r>
              <a:rPr lang="it-IT" dirty="0"/>
              <a:t>. </a:t>
            </a:r>
          </a:p>
          <a:p>
            <a:r>
              <a:rPr lang="it-IT" dirty="0"/>
              <a:t>Il linguaggio è </a:t>
            </a:r>
            <a:r>
              <a:rPr lang="it-IT" dirty="0" err="1"/>
              <a:t>semiformale</a:t>
            </a:r>
            <a:r>
              <a:rPr lang="it-IT" dirty="0"/>
              <a:t> perché descritto in linguaggio naturale e con l’uso di diagrammi, cercando di ridurre al minimo le ambiguità.</a:t>
            </a:r>
          </a:p>
          <a:p>
            <a:r>
              <a:rPr lang="it-IT" dirty="0"/>
              <a:t>Ha regole sintattiche (come produrre modelli legali) e regole semantiche (come produrre modelli con un </a:t>
            </a:r>
            <a:r>
              <a:rPr lang="it-IT" dirty="0" err="1"/>
              <a:t>signiﬁcato</a:t>
            </a:r>
            <a:r>
              <a:rPr lang="it-IT" dirty="0"/>
              <a:t>).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1061677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969971"/>
            <a:ext cx="10515600" cy="692150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/>
              <a:t>U come </a:t>
            </a:r>
            <a:r>
              <a:rPr lang="it-IT" dirty="0" err="1"/>
              <a:t>Uniﬁcato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557338" y="2606675"/>
            <a:ext cx="10515600" cy="3198813"/>
          </a:xfrm>
        </p:spPr>
        <p:txBody>
          <a:bodyPr/>
          <a:lstStyle/>
          <a:p>
            <a:r>
              <a:rPr lang="it-IT" dirty="0"/>
              <a:t>UML rappresenta la sintesi di vari approcci metodologici fusi in un’unica entità. </a:t>
            </a:r>
          </a:p>
          <a:p>
            <a:r>
              <a:rPr lang="it-IT" dirty="0"/>
              <a:t>L’intento era di prendere il meglio da ciascuno dei diversi linguaggi esistenti e integrarli. Per questo motivo, UML è un linguaggio molto vasto. </a:t>
            </a:r>
          </a:p>
          <a:p>
            <a:r>
              <a:rPr lang="it-IT" dirty="0"/>
              <a:t>Questa è una delle critiche principali mosse a UML ("vuole fare troppe cose").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227699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941397"/>
            <a:ext cx="10515600" cy="806450"/>
          </a:xfrm>
        </p:spPr>
        <p:txBody>
          <a:bodyPr/>
          <a:lstStyle/>
          <a:p>
            <a:pPr algn="ctr"/>
            <a:r>
              <a:rPr lang="it-IT" dirty="0"/>
              <a:t>Breve storia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438275" y="2225675"/>
            <a:ext cx="10515600" cy="4351338"/>
          </a:xfrm>
        </p:spPr>
        <p:txBody>
          <a:bodyPr/>
          <a:lstStyle/>
          <a:p>
            <a:r>
              <a:rPr lang="it-IT" dirty="0"/>
              <a:t>Agli inizi degli anni ’90 vi era una proliferazione di linguaggi e approcci alla modellazione </a:t>
            </a:r>
            <a:r>
              <a:rPr lang="it-IT" dirty="0" err="1"/>
              <a:t>object-oriented</a:t>
            </a:r>
            <a:r>
              <a:rPr lang="it-IT" dirty="0"/>
              <a:t>. Mancava uno standard accettato universalmente per la creazione di modelli software. </a:t>
            </a:r>
          </a:p>
          <a:p>
            <a:r>
              <a:rPr lang="it-IT" dirty="0"/>
              <a:t>Nel 1994 due esperti di modellazione della </a:t>
            </a:r>
            <a:r>
              <a:rPr lang="it-IT" dirty="0" err="1"/>
              <a:t>Rational</a:t>
            </a:r>
            <a:r>
              <a:rPr lang="it-IT" dirty="0"/>
              <a:t> Software Corporation, </a:t>
            </a:r>
            <a:r>
              <a:rPr lang="it-IT" dirty="0" err="1"/>
              <a:t>Grady</a:t>
            </a:r>
            <a:r>
              <a:rPr lang="it-IT" dirty="0"/>
              <a:t> </a:t>
            </a:r>
            <a:r>
              <a:rPr lang="it-IT" dirty="0" err="1"/>
              <a:t>Booch</a:t>
            </a:r>
            <a:r>
              <a:rPr lang="it-IT" dirty="0"/>
              <a:t> e James </a:t>
            </a:r>
            <a:r>
              <a:rPr lang="it-IT" dirty="0" err="1"/>
              <a:t>Rumbaugh</a:t>
            </a:r>
            <a:r>
              <a:rPr lang="it-IT" dirty="0"/>
              <a:t>, </a:t>
            </a:r>
            <a:r>
              <a:rPr lang="it-IT" dirty="0" err="1"/>
              <a:t>uniﬁcarono</a:t>
            </a:r>
            <a:r>
              <a:rPr lang="it-IT" dirty="0"/>
              <a:t> i propri metodi, </a:t>
            </a:r>
            <a:r>
              <a:rPr lang="it-IT" dirty="0" err="1"/>
              <a:t>Booch</a:t>
            </a:r>
            <a:r>
              <a:rPr lang="it-IT" dirty="0"/>
              <a:t> e OMT (Object Management </a:t>
            </a:r>
            <a:r>
              <a:rPr lang="it-IT" dirty="0" err="1"/>
              <a:t>Technique</a:t>
            </a:r>
            <a:r>
              <a:rPr lang="it-IT" dirty="0"/>
              <a:t>). </a:t>
            </a:r>
          </a:p>
          <a:p>
            <a:r>
              <a:rPr lang="it-IT" dirty="0"/>
              <a:t>Nel 1997, la </a:t>
            </a:r>
            <a:r>
              <a:rPr lang="it-IT" dirty="0" err="1"/>
              <a:t>speciﬁca</a:t>
            </a:r>
            <a:r>
              <a:rPr lang="it-IT" dirty="0"/>
              <a:t> UML 1.0 viene presentata all’OMG (Object Management Group), un consorzio di grandi aziende interessate allo sviluppo di standard e tecnologie basate su oggetti</a:t>
            </a:r>
            <a:r>
              <a:rPr lang="it-IT"/>
              <a:t>. 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742056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969971"/>
            <a:ext cx="10515600" cy="744538"/>
          </a:xfrm>
        </p:spPr>
        <p:txBody>
          <a:bodyPr/>
          <a:lstStyle/>
          <a:p>
            <a:pPr algn="ctr"/>
            <a:r>
              <a:rPr lang="it-IT" dirty="0"/>
              <a:t>Object-</a:t>
            </a:r>
            <a:r>
              <a:rPr lang="it-IT" dirty="0" err="1"/>
              <a:t>oriented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447800" y="2373313"/>
            <a:ext cx="10515600" cy="3965575"/>
          </a:xfrm>
        </p:spPr>
        <p:txBody>
          <a:bodyPr>
            <a:normAutofit fontScale="92500"/>
          </a:bodyPr>
          <a:lstStyle/>
          <a:p>
            <a:r>
              <a:rPr lang="it-IT" dirty="0"/>
              <a:t>UML non è solo un linguaggio per la modellazione, ma un linguaggio per la modellazione orientata agli oggetti. </a:t>
            </a:r>
          </a:p>
          <a:p>
            <a:r>
              <a:rPr lang="it-IT" dirty="0"/>
              <a:t>Questo include sia l’analisi che la progettazione orientata agli oggetti (OOA e OOD, rispettivamente):  </a:t>
            </a:r>
          </a:p>
          <a:p>
            <a:pPr lvl="1"/>
            <a:r>
              <a:rPr lang="it-IT" dirty="0"/>
              <a:t>analisi: capire cosa deve fare il sistema, senza occuparsi dei dettagli implementativi  </a:t>
            </a:r>
          </a:p>
          <a:p>
            <a:pPr lvl="1"/>
            <a:r>
              <a:rPr lang="it-IT" dirty="0"/>
              <a:t>progettazione: capire come il sistema raggiunge il suo scopo, come viene implementato </a:t>
            </a:r>
          </a:p>
          <a:p>
            <a:r>
              <a:rPr lang="it-IT" dirty="0"/>
              <a:t>UML offre strumenti di modellazione OO in entrambi gli ambiti; frammenti differenti di UML sono impiegati in diverse fasi del processo di sviluppo (anche se UML stesso non fornisce indicazioni sul suo utilizzo).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907393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1012833"/>
            <a:ext cx="10515600" cy="777875"/>
          </a:xfrm>
        </p:spPr>
        <p:txBody>
          <a:bodyPr/>
          <a:lstStyle/>
          <a:p>
            <a:pPr algn="ctr"/>
            <a:r>
              <a:rPr lang="it-IT" dirty="0"/>
              <a:t>Object-</a:t>
            </a:r>
            <a:r>
              <a:rPr lang="it-IT" dirty="0" err="1"/>
              <a:t>oriented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366837" y="2678112"/>
            <a:ext cx="10515600" cy="3570288"/>
          </a:xfrm>
        </p:spPr>
        <p:txBody>
          <a:bodyPr/>
          <a:lstStyle/>
          <a:p>
            <a:r>
              <a:rPr lang="it-IT" dirty="0"/>
              <a:t>OO: un paradigma che sposta l’enfasi della programmazione dal codice verso le entità su cui esso opera, gli oggetti. </a:t>
            </a:r>
          </a:p>
          <a:p>
            <a:r>
              <a:rPr lang="it-IT" dirty="0"/>
              <a:t>Una rivoluzione copernicana cominciata dagli anni ’60 e proseguita, lentamente, </a:t>
            </a:r>
            <a:r>
              <a:rPr lang="it-IT" dirty="0" err="1"/>
              <a:t>ﬁno</a:t>
            </a:r>
            <a:r>
              <a:rPr lang="it-IT" dirty="0"/>
              <a:t> ad affermarsi negli anni ’90. </a:t>
            </a:r>
          </a:p>
          <a:p>
            <a:r>
              <a:rPr lang="it-IT" dirty="0"/>
              <a:t>I principi cardine furono proposti separatamente e solo successivamente integrati in unico paradigma. </a:t>
            </a:r>
          </a:p>
          <a:p>
            <a:r>
              <a:rPr lang="it-IT" dirty="0"/>
              <a:t>Principi OO comunemente accettati sono: </a:t>
            </a:r>
            <a:r>
              <a:rPr lang="it-IT" dirty="0" err="1"/>
              <a:t>Abstraction</a:t>
            </a:r>
            <a:r>
              <a:rPr lang="it-IT" dirty="0"/>
              <a:t>, </a:t>
            </a:r>
            <a:r>
              <a:rPr lang="it-IT" dirty="0" err="1"/>
              <a:t>Encapsulation</a:t>
            </a:r>
            <a:r>
              <a:rPr lang="it-IT" dirty="0"/>
              <a:t>, </a:t>
            </a:r>
            <a:r>
              <a:rPr lang="it-IT" dirty="0" err="1"/>
              <a:t>Inheritance</a:t>
            </a:r>
            <a:r>
              <a:rPr lang="it-IT" dirty="0"/>
              <a:t>, </a:t>
            </a:r>
            <a:r>
              <a:rPr lang="it-IT" dirty="0" err="1"/>
              <a:t>Polymorphism</a:t>
            </a:r>
            <a:r>
              <a:rPr lang="it-IT" dirty="0"/>
              <a:t>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072746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969971"/>
            <a:ext cx="10515600" cy="820738"/>
          </a:xfrm>
        </p:spPr>
        <p:txBody>
          <a:bodyPr/>
          <a:lstStyle/>
          <a:p>
            <a:pPr algn="ctr"/>
            <a:r>
              <a:rPr lang="it-IT" dirty="0"/>
              <a:t>Principi OO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347788" y="2249487"/>
            <a:ext cx="10515600" cy="4351338"/>
          </a:xfrm>
        </p:spPr>
        <p:txBody>
          <a:bodyPr/>
          <a:lstStyle/>
          <a:p>
            <a:r>
              <a:rPr lang="it-IT" dirty="0" err="1"/>
              <a:t>Abstraction</a:t>
            </a:r>
            <a:r>
              <a:rPr lang="it-IT" dirty="0"/>
              <a:t> : usare classi per astrarre la natura e le caratteristiche di un oggetto, che è un’istanza della propria classe di appartenenza.</a:t>
            </a:r>
          </a:p>
          <a:p>
            <a:r>
              <a:rPr lang="it-IT" dirty="0" err="1"/>
              <a:t>Encapsulation</a:t>
            </a:r>
            <a:r>
              <a:rPr lang="it-IT" dirty="0"/>
              <a:t> : nascondere al mondo esterno i dettagli del funzionamento di un oggetto; gli oggetti hanno accesso solo ai dati di cui hanno bisogno. </a:t>
            </a:r>
          </a:p>
          <a:p>
            <a:r>
              <a:rPr lang="it-IT" dirty="0" err="1"/>
              <a:t>Inheritance</a:t>
            </a:r>
            <a:r>
              <a:rPr lang="it-IT" dirty="0"/>
              <a:t> : classi possono specializzare altre classi ereditando da esse e implementando solo la porzione di comportamento che differisce. </a:t>
            </a:r>
          </a:p>
          <a:p>
            <a:r>
              <a:rPr lang="it-IT" dirty="0" err="1"/>
              <a:t>Polymorphism</a:t>
            </a:r>
            <a:r>
              <a:rPr lang="it-IT" dirty="0"/>
              <a:t> : invocare comportamento diverso in reazione allo stesso messaggio, a seconda di quale oggetto lo riceve.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692873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969970"/>
            <a:ext cx="10515600" cy="796925"/>
          </a:xfrm>
        </p:spPr>
        <p:txBody>
          <a:bodyPr/>
          <a:lstStyle/>
          <a:p>
            <a:pPr algn="ctr"/>
            <a:r>
              <a:rPr lang="it-IT" dirty="0"/>
              <a:t>Struttura di UML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571625" y="2068512"/>
            <a:ext cx="10515600" cy="447040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it-IT" dirty="0"/>
              <a:t>Composto da</a:t>
            </a:r>
          </a:p>
          <a:p>
            <a:pPr marL="914400" lvl="1" indent="-457200">
              <a:buFont typeface="+mj-lt"/>
              <a:buAutoNum type="arabicPeriod"/>
            </a:pPr>
            <a:r>
              <a:rPr lang="it-IT" dirty="0"/>
              <a:t>Viste </a:t>
            </a:r>
          </a:p>
          <a:p>
            <a:pPr lvl="2"/>
            <a:r>
              <a:rPr lang="it-IT" dirty="0"/>
              <a:t>Mostrano i differenti aspetti di un sistema attraverso la realizzazione di un certo numero di diagrammi. </a:t>
            </a:r>
          </a:p>
          <a:p>
            <a:pPr lvl="2"/>
            <a:r>
              <a:rPr lang="it-IT" dirty="0"/>
              <a:t>Sono astrazioni, ognuna delle quali modella il sistema con un’ottica diversa (funzionale, non funzionale, organizzativa). </a:t>
            </a:r>
          </a:p>
          <a:p>
            <a:pPr lvl="2"/>
            <a:r>
              <a:rPr lang="it-IT" dirty="0"/>
              <a:t>La somma delle viste fornisce il quadro d’insieme. </a:t>
            </a:r>
          </a:p>
          <a:p>
            <a:pPr lvl="2"/>
            <a:r>
              <a:rPr lang="it-IT" dirty="0"/>
              <a:t>Tipologie di viste:</a:t>
            </a:r>
          </a:p>
          <a:p>
            <a:pPr lvl="3"/>
            <a:r>
              <a:rPr lang="it-IT" dirty="0"/>
              <a:t>Use case    </a:t>
            </a:r>
          </a:p>
          <a:p>
            <a:pPr lvl="3"/>
            <a:r>
              <a:rPr lang="it-IT" dirty="0"/>
              <a:t>Design  </a:t>
            </a:r>
          </a:p>
          <a:p>
            <a:pPr lvl="3"/>
            <a:r>
              <a:rPr lang="it-IT" dirty="0" err="1"/>
              <a:t>Implementation</a:t>
            </a:r>
            <a:r>
              <a:rPr lang="it-IT" dirty="0"/>
              <a:t>   </a:t>
            </a:r>
          </a:p>
          <a:p>
            <a:pPr lvl="3"/>
            <a:r>
              <a:rPr lang="it-IT" dirty="0" err="1"/>
              <a:t>Process</a:t>
            </a:r>
            <a:r>
              <a:rPr lang="it-IT" dirty="0"/>
              <a:t>   </a:t>
            </a:r>
          </a:p>
          <a:p>
            <a:pPr lvl="3"/>
            <a:r>
              <a:rPr lang="it-IT" dirty="0"/>
              <a:t>Deployment </a:t>
            </a:r>
          </a:p>
          <a:p>
            <a:pPr marL="914400" lvl="1" indent="-457200">
              <a:buFont typeface="+mj-lt"/>
              <a:buAutoNum type="arabicPeriod"/>
            </a:pPr>
            <a:r>
              <a:rPr lang="it-IT" dirty="0"/>
              <a:t>Diagrammi </a:t>
            </a:r>
          </a:p>
          <a:p>
            <a:pPr lvl="2"/>
            <a:r>
              <a:rPr lang="it-IT" dirty="0"/>
              <a:t>Esprimono le viste tramite diagrammi. </a:t>
            </a:r>
          </a:p>
          <a:p>
            <a:pPr marL="914400" lvl="1" indent="-457200">
              <a:buFont typeface="+mj-lt"/>
              <a:buAutoNum type="arabicPeriod"/>
            </a:pPr>
            <a:r>
              <a:rPr lang="it-IT" dirty="0"/>
              <a:t>Elementi </a:t>
            </a:r>
          </a:p>
          <a:p>
            <a:pPr lvl="2"/>
            <a:r>
              <a:rPr lang="it-IT" dirty="0"/>
              <a:t>Sono i concetti che permettono di realizzare i diagrammi (attori).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55416795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927107"/>
            <a:ext cx="10515600" cy="773113"/>
          </a:xfrm>
        </p:spPr>
        <p:txBody>
          <a:bodyPr/>
          <a:lstStyle/>
          <a:p>
            <a:pPr algn="ctr"/>
            <a:r>
              <a:rPr lang="it-IT" dirty="0"/>
              <a:t>Le viste di UML</a:t>
            </a:r>
          </a:p>
        </p:txBody>
      </p:sp>
      <p:pic>
        <p:nvPicPr>
          <p:cNvPr id="4" name="Segnaposto contenuto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2019" y="1825625"/>
            <a:ext cx="7947962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2154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974737"/>
            <a:ext cx="10515600" cy="725488"/>
          </a:xfrm>
        </p:spPr>
        <p:txBody>
          <a:bodyPr/>
          <a:lstStyle/>
          <a:p>
            <a:pPr algn="ctr"/>
            <a:r>
              <a:rPr lang="it-IT" dirty="0"/>
              <a:t> Use case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576388" y="2263775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it-IT" dirty="0"/>
              <a:t>Analizza i requisiti utente </a:t>
            </a:r>
          </a:p>
          <a:p>
            <a:pPr lvl="1"/>
            <a:r>
              <a:rPr lang="it-IT" dirty="0"/>
              <a:t>Cosa dovrà fare il sistema?</a:t>
            </a:r>
          </a:p>
          <a:p>
            <a:r>
              <a:rPr lang="it-IT" dirty="0"/>
              <a:t>Vista ad alto livello di importanza fondamentale: </a:t>
            </a:r>
          </a:p>
          <a:p>
            <a:pPr lvl="1"/>
            <a:r>
              <a:rPr lang="it-IT" dirty="0"/>
              <a:t>Guida lo sviluppo delle rimanenti. </a:t>
            </a:r>
          </a:p>
          <a:p>
            <a:pPr lvl="1"/>
            <a:r>
              <a:rPr lang="it-IT" dirty="0"/>
              <a:t>Stabilisce le funzionalità che il sistema dovrà realizzare.</a:t>
            </a:r>
          </a:p>
          <a:p>
            <a:r>
              <a:rPr lang="it-IT" dirty="0"/>
              <a:t>Le funzionalità saranno individuate assieme al cliente grazie all’ausilio di tale vista, utile al reperimento dei requisiti. </a:t>
            </a:r>
          </a:p>
          <a:p>
            <a:pPr lvl="1"/>
            <a:r>
              <a:rPr lang="it-IT" dirty="0"/>
              <a:t>A questo livello è necessario concentrarsi sul cosa fare, astraendosi il più possibile dal come verrà implementato.</a:t>
            </a:r>
          </a:p>
          <a:p>
            <a:r>
              <a:rPr lang="it-IT" dirty="0"/>
              <a:t> la vista che agisce da ’collante’ per le altre; spiega il funzionamento desiderato del sistema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906410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1012834"/>
            <a:ext cx="10515600" cy="687388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/>
              <a:t>Design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838326" y="2563813"/>
            <a:ext cx="7486650" cy="3227388"/>
          </a:xfrm>
        </p:spPr>
        <p:txBody>
          <a:bodyPr/>
          <a:lstStyle/>
          <a:p>
            <a:r>
              <a:rPr lang="it-IT" dirty="0"/>
              <a:t>Descrive come realizzare le funzioni </a:t>
            </a:r>
          </a:p>
          <a:p>
            <a:pPr lvl="1"/>
            <a:r>
              <a:rPr lang="it-IT" dirty="0"/>
              <a:t>Si analizza il sistema dall’interno.</a:t>
            </a:r>
          </a:p>
          <a:p>
            <a:r>
              <a:rPr lang="it-IT" dirty="0"/>
              <a:t>Si trovano </a:t>
            </a:r>
          </a:p>
          <a:p>
            <a:pPr lvl="1"/>
            <a:r>
              <a:rPr lang="it-IT" dirty="0"/>
              <a:t>struttura statica del sistema </a:t>
            </a:r>
          </a:p>
          <a:p>
            <a:pPr lvl="2"/>
            <a:r>
              <a:rPr lang="it-IT" dirty="0"/>
              <a:t>diagramma delle classi </a:t>
            </a:r>
          </a:p>
          <a:p>
            <a:pPr lvl="2"/>
            <a:r>
              <a:rPr lang="it-IT" dirty="0"/>
              <a:t>diagramma degli oggetti </a:t>
            </a:r>
          </a:p>
          <a:p>
            <a:pPr lvl="1"/>
            <a:r>
              <a:rPr lang="it-IT" dirty="0"/>
              <a:t>collaborazione dinamica </a:t>
            </a:r>
          </a:p>
          <a:p>
            <a:pPr lvl="2"/>
            <a:r>
              <a:rPr lang="it-IT" dirty="0"/>
              <a:t>interazioni tra gli oggetti del sistema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947038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1060459"/>
            <a:ext cx="10515600" cy="592138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 err="1"/>
              <a:t>Implementation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866900" y="2207717"/>
            <a:ext cx="9810751" cy="976298"/>
          </a:xfrm>
        </p:spPr>
        <p:txBody>
          <a:bodyPr/>
          <a:lstStyle/>
          <a:p>
            <a:r>
              <a:rPr lang="it-IT" dirty="0"/>
              <a:t>Descrive l’aggregazione in moduli, chiamati package, e le relative interdipendenze.</a:t>
            </a:r>
          </a:p>
        </p:txBody>
      </p:sp>
    </p:spTree>
    <p:extLst>
      <p:ext uri="{BB962C8B-B14F-4D97-AF65-F5344CB8AC3E}">
        <p14:creationId xmlns:p14="http://schemas.microsoft.com/office/powerpoint/2010/main" val="10031844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1012833"/>
            <a:ext cx="10515600" cy="663575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 err="1"/>
              <a:t>Process</a:t>
            </a:r>
            <a:endParaRPr lang="it-IT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490662" y="2516188"/>
            <a:ext cx="9701213" cy="2189163"/>
          </a:xfrm>
        </p:spPr>
        <p:txBody>
          <a:bodyPr/>
          <a:lstStyle/>
          <a:p>
            <a:r>
              <a:rPr lang="it-IT" dirty="0"/>
              <a:t>Analizza gli aspetti non funzionali del sistema </a:t>
            </a:r>
          </a:p>
          <a:p>
            <a:pPr lvl="1"/>
            <a:r>
              <a:rPr lang="it-IT" dirty="0"/>
              <a:t>Individuazione dei processi </a:t>
            </a:r>
          </a:p>
          <a:p>
            <a:r>
              <a:rPr lang="it-IT" dirty="0"/>
              <a:t>Serve a massimizzare l’utilizzo efficiente delle risorse </a:t>
            </a:r>
          </a:p>
          <a:p>
            <a:pPr lvl="1"/>
            <a:r>
              <a:rPr lang="it-IT" dirty="0"/>
              <a:t>Stabilendo l’esecuzione parallela di determinate operazioni </a:t>
            </a:r>
          </a:p>
          <a:p>
            <a:pPr lvl="1"/>
            <a:r>
              <a:rPr lang="it-IT" dirty="0"/>
              <a:t>Consentendo la gestione di eventi asincroni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574337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936635"/>
            <a:ext cx="10515600" cy="720725"/>
          </a:xfrm>
        </p:spPr>
        <p:txBody>
          <a:bodyPr/>
          <a:lstStyle/>
          <a:p>
            <a:pPr algn="ctr"/>
            <a:r>
              <a:rPr lang="it-IT" dirty="0"/>
              <a:t>Deployment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504950" y="2597150"/>
            <a:ext cx="10515600" cy="1536700"/>
          </a:xfrm>
        </p:spPr>
        <p:txBody>
          <a:bodyPr/>
          <a:lstStyle/>
          <a:p>
            <a:r>
              <a:rPr lang="it-IT" dirty="0"/>
              <a:t>Mostra l’architettura fisica del sistema </a:t>
            </a:r>
          </a:p>
          <a:p>
            <a:r>
              <a:rPr lang="it-IT" dirty="0"/>
              <a:t>La distribuzione e </a:t>
            </a:r>
            <a:r>
              <a:rPr lang="it-IT" dirty="0" err="1"/>
              <a:t>l’ubicazioni</a:t>
            </a:r>
            <a:r>
              <a:rPr lang="it-IT" dirty="0"/>
              <a:t> delle componenti software all’interno della struttura stessa.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0293968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1012834"/>
            <a:ext cx="10515600" cy="692150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/>
              <a:t>Diagrammi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400175" y="2406650"/>
            <a:ext cx="10515600" cy="4060825"/>
          </a:xfrm>
        </p:spPr>
        <p:txBody>
          <a:bodyPr>
            <a:normAutofit lnSpcReduction="10000"/>
          </a:bodyPr>
          <a:lstStyle/>
          <a:p>
            <a:r>
              <a:rPr lang="it-IT" dirty="0"/>
              <a:t>Sono grafici che visualizzano una particolare proiezione del sistema da modellare.</a:t>
            </a:r>
          </a:p>
          <a:p>
            <a:pPr lvl="1"/>
            <a:r>
              <a:rPr lang="it-IT" dirty="0"/>
              <a:t>Use case </a:t>
            </a:r>
            <a:r>
              <a:rPr lang="it-IT" dirty="0" err="1"/>
              <a:t>diagram</a:t>
            </a:r>
            <a:r>
              <a:rPr lang="it-IT" dirty="0"/>
              <a:t> </a:t>
            </a:r>
          </a:p>
          <a:p>
            <a:pPr lvl="1"/>
            <a:r>
              <a:rPr lang="it-IT" dirty="0"/>
              <a:t>Class </a:t>
            </a:r>
            <a:r>
              <a:rPr lang="it-IT" dirty="0" err="1"/>
              <a:t>diagram</a:t>
            </a:r>
            <a:r>
              <a:rPr lang="it-IT" dirty="0"/>
              <a:t> </a:t>
            </a:r>
          </a:p>
          <a:p>
            <a:pPr lvl="1"/>
            <a:r>
              <a:rPr lang="it-IT" dirty="0"/>
              <a:t>Object </a:t>
            </a:r>
            <a:r>
              <a:rPr lang="it-IT" dirty="0" err="1"/>
              <a:t>diagram</a:t>
            </a:r>
            <a:r>
              <a:rPr lang="it-IT" dirty="0"/>
              <a:t> </a:t>
            </a:r>
          </a:p>
          <a:p>
            <a:pPr lvl="1"/>
            <a:r>
              <a:rPr lang="it-IT" dirty="0" err="1"/>
              <a:t>Sequence</a:t>
            </a:r>
            <a:r>
              <a:rPr lang="it-IT" dirty="0"/>
              <a:t> </a:t>
            </a:r>
            <a:r>
              <a:rPr lang="it-IT" dirty="0" err="1"/>
              <a:t>diagram</a:t>
            </a:r>
            <a:r>
              <a:rPr lang="it-IT" dirty="0"/>
              <a:t> </a:t>
            </a:r>
          </a:p>
          <a:p>
            <a:pPr lvl="1"/>
            <a:r>
              <a:rPr lang="it-IT" dirty="0"/>
              <a:t>Collaboration </a:t>
            </a:r>
            <a:r>
              <a:rPr lang="it-IT" dirty="0" err="1"/>
              <a:t>diagram</a:t>
            </a:r>
            <a:r>
              <a:rPr lang="it-IT" dirty="0"/>
              <a:t> </a:t>
            </a:r>
          </a:p>
          <a:p>
            <a:pPr lvl="1"/>
            <a:r>
              <a:rPr lang="it-IT" dirty="0"/>
              <a:t>State </a:t>
            </a:r>
            <a:r>
              <a:rPr lang="it-IT" dirty="0" err="1"/>
              <a:t>diagram</a:t>
            </a:r>
            <a:r>
              <a:rPr lang="it-IT" dirty="0"/>
              <a:t> </a:t>
            </a:r>
          </a:p>
          <a:p>
            <a:pPr lvl="1"/>
            <a:r>
              <a:rPr lang="it-IT" dirty="0"/>
              <a:t>Activity </a:t>
            </a:r>
            <a:r>
              <a:rPr lang="it-IT" dirty="0" err="1"/>
              <a:t>diagram</a:t>
            </a:r>
            <a:r>
              <a:rPr lang="it-IT" dirty="0"/>
              <a:t> </a:t>
            </a:r>
          </a:p>
          <a:p>
            <a:pPr lvl="1"/>
            <a:r>
              <a:rPr lang="it-IT" dirty="0"/>
              <a:t>Component </a:t>
            </a:r>
            <a:r>
              <a:rPr lang="it-IT" dirty="0" err="1"/>
              <a:t>diagram</a:t>
            </a:r>
            <a:r>
              <a:rPr lang="it-IT" dirty="0"/>
              <a:t> </a:t>
            </a:r>
          </a:p>
          <a:p>
            <a:pPr lvl="1"/>
            <a:r>
              <a:rPr lang="it-IT" dirty="0"/>
              <a:t>Deployment </a:t>
            </a:r>
            <a:r>
              <a:rPr lang="it-IT" dirty="0" err="1"/>
              <a:t>diagram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4616343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1012834"/>
            <a:ext cx="10515600" cy="725488"/>
          </a:xfrm>
        </p:spPr>
        <p:txBody>
          <a:bodyPr/>
          <a:lstStyle/>
          <a:p>
            <a:pPr algn="ctr"/>
            <a:r>
              <a:rPr lang="it-IT" dirty="0"/>
              <a:t>Use case Parte 1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471613" y="2501900"/>
            <a:ext cx="10515600" cy="3594100"/>
          </a:xfrm>
        </p:spPr>
        <p:txBody>
          <a:bodyPr/>
          <a:lstStyle/>
          <a:p>
            <a:r>
              <a:rPr lang="it-IT" dirty="0"/>
              <a:t>Visione d’insieme del sistema che si sta analizzando </a:t>
            </a:r>
          </a:p>
          <a:p>
            <a:pPr lvl="1"/>
            <a:r>
              <a:rPr lang="it-IT" dirty="0"/>
              <a:t>Fondamentali nelle fasi iniziali del progetto</a:t>
            </a:r>
          </a:p>
          <a:p>
            <a:r>
              <a:rPr lang="it-IT" dirty="0"/>
              <a:t>Rappresentano il sistema visto dall’utilizzatore </a:t>
            </a:r>
          </a:p>
          <a:p>
            <a:pPr lvl="1"/>
            <a:r>
              <a:rPr lang="it-IT" dirty="0"/>
              <a:t>Modellano il dialogo tra l’utilizzatore e il sistema stesso </a:t>
            </a:r>
          </a:p>
          <a:p>
            <a:pPr lvl="2"/>
            <a:r>
              <a:rPr lang="it-IT" dirty="0"/>
              <a:t>Descrivono l’interazione tra attori e sistema </a:t>
            </a:r>
          </a:p>
          <a:p>
            <a:pPr lvl="3"/>
            <a:r>
              <a:rPr lang="it-IT" dirty="0"/>
              <a:t>Non la logica propria della funzione (sono astratti)</a:t>
            </a:r>
          </a:p>
          <a:p>
            <a:pPr lvl="2"/>
            <a:r>
              <a:rPr lang="it-IT" dirty="0"/>
              <a:t>Espressi in forma testuale (comprensibili anche ai non addetti) </a:t>
            </a:r>
          </a:p>
          <a:p>
            <a:pPr lvl="2"/>
            <a:r>
              <a:rPr lang="it-IT" dirty="0"/>
              <a:t>Diversi livelli di definizione (sistema complessivo o sue parti) </a:t>
            </a:r>
          </a:p>
          <a:p>
            <a:pPr lvl="2"/>
            <a:r>
              <a:rPr lang="it-IT" dirty="0"/>
              <a:t>Rappresentano le modalità d’uso del sistema da parte di uno o più attori</a:t>
            </a:r>
          </a:p>
        </p:txBody>
      </p:sp>
    </p:spTree>
    <p:extLst>
      <p:ext uri="{BB962C8B-B14F-4D97-AF65-F5344CB8AC3E}">
        <p14:creationId xmlns:p14="http://schemas.microsoft.com/office/powerpoint/2010/main" val="24873542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941397"/>
            <a:ext cx="10515600" cy="692150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/>
              <a:t>Use case Parte 2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809750" y="2659062"/>
            <a:ext cx="8496300" cy="2051050"/>
          </a:xfrm>
        </p:spPr>
        <p:txBody>
          <a:bodyPr/>
          <a:lstStyle/>
          <a:p>
            <a:r>
              <a:rPr lang="it-IT" dirty="0"/>
              <a:t>Consentono di scoprire i requisiti funzionali </a:t>
            </a:r>
          </a:p>
          <a:p>
            <a:pPr lvl="1"/>
            <a:r>
              <a:rPr lang="it-IT" dirty="0"/>
              <a:t>Rappresentano un valido ausilio nel dialogo con l’utente </a:t>
            </a:r>
          </a:p>
          <a:p>
            <a:pPr lvl="1"/>
            <a:r>
              <a:rPr lang="it-IT" dirty="0"/>
              <a:t>Fondamentali con esponenti non tecnici</a:t>
            </a:r>
          </a:p>
          <a:p>
            <a:r>
              <a:rPr lang="it-IT" u="sng" dirty="0"/>
              <a:t>Vengono rappresentati da un diagramma</a:t>
            </a:r>
            <a:r>
              <a:rPr lang="it-IT" dirty="0"/>
              <a:t>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9202554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893771"/>
            <a:ext cx="10515600" cy="654050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/>
              <a:t>Diagramma dei casi d’uso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566862" y="2239962"/>
            <a:ext cx="10515600" cy="4179888"/>
          </a:xfrm>
        </p:spPr>
        <p:txBody>
          <a:bodyPr>
            <a:normAutofit/>
          </a:bodyPr>
          <a:lstStyle/>
          <a:p>
            <a:r>
              <a:rPr lang="it-IT" dirty="0"/>
              <a:t>Rappresentano i casi d’uso, gli attori e le associazioni che li legano.</a:t>
            </a:r>
          </a:p>
          <a:p>
            <a:r>
              <a:rPr lang="it-IT" dirty="0"/>
              <a:t>Visualizzano le modalità d’utilizzo del sistema da parte di uno o più utilizzatori, che vengono definiti attori.</a:t>
            </a:r>
          </a:p>
          <a:p>
            <a:r>
              <a:rPr lang="it-IT" dirty="0"/>
              <a:t>I singoli casi d’uso descrivono le iterazioni tra sistema e attori (non la logica delle funzioni).</a:t>
            </a:r>
          </a:p>
          <a:p>
            <a:r>
              <a:rPr lang="it-IT" dirty="0"/>
              <a:t>Un attore è un elemento esterno al sistema che fornisce </a:t>
            </a:r>
            <a:r>
              <a:rPr lang="it-IT" dirty="0" err="1"/>
              <a:t>un’input</a:t>
            </a:r>
            <a:r>
              <a:rPr lang="it-IT" dirty="0"/>
              <a:t> a cui il sistema deve rispondere.</a:t>
            </a:r>
          </a:p>
          <a:p>
            <a:r>
              <a:rPr lang="it-IT" dirty="0"/>
              <a:t>Tipicamente è il primo tipo di diagramma ad essere creato in un processo o ciclo di sviluppo, nell’ambito dell’analisi dei requisiti.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2148557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A01BFCB-6BF0-A0AA-DA2A-E6326BE8A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Casi d’uso e requisiti funzionali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4EBF525-DC84-E714-6BC1-F74EF417DB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 requisiti funzionali specificano cosa deve essere fatto. </a:t>
            </a:r>
          </a:p>
          <a:p>
            <a:r>
              <a:rPr lang="it-IT" dirty="0"/>
              <a:t>Sono indipendenti dalla tecnologia, dall’architettura, dalla piattaforma, dal linguaggio di programmazione. </a:t>
            </a:r>
          </a:p>
          <a:p>
            <a:r>
              <a:rPr lang="it-IT" dirty="0"/>
              <a:t>I requisiti non-funzionali specificano vincoli aggiuntivi, ad esempio:</a:t>
            </a:r>
          </a:p>
          <a:p>
            <a:pPr lvl="1"/>
            <a:r>
              <a:rPr lang="it-IT" dirty="0"/>
              <a:t>performance </a:t>
            </a:r>
          </a:p>
          <a:p>
            <a:pPr lvl="1"/>
            <a:r>
              <a:rPr lang="it-IT" dirty="0"/>
              <a:t>scalabilità </a:t>
            </a:r>
          </a:p>
          <a:p>
            <a:pPr lvl="1"/>
            <a:r>
              <a:rPr lang="it-IT" dirty="0"/>
              <a:t>tolleranza ai guasti </a:t>
            </a:r>
          </a:p>
          <a:p>
            <a:pPr lvl="1"/>
            <a:r>
              <a:rPr lang="it-IT" dirty="0"/>
              <a:t>dimensione degli eseguibili </a:t>
            </a:r>
          </a:p>
          <a:p>
            <a:r>
              <a:rPr lang="it-IT" dirty="0"/>
              <a:t>I casi d’uso modellano i requisiti funzionali.</a:t>
            </a:r>
          </a:p>
        </p:txBody>
      </p:sp>
    </p:spTree>
    <p:extLst>
      <p:ext uri="{BB962C8B-B14F-4D97-AF65-F5344CB8AC3E}">
        <p14:creationId xmlns:p14="http://schemas.microsoft.com/office/powerpoint/2010/main" val="306059002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72A52DB-49EE-5F8A-B78C-C42B9D91B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desiderato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3CA6371-F4F3-4CCD-4624-F2A12B2DF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Il desiderato è ciò che il cliente desidera. </a:t>
            </a:r>
          </a:p>
          <a:p>
            <a:r>
              <a:rPr lang="it-IT" dirty="0"/>
              <a:t>Formalizzare il desiderato in requisiti è una delle più importanti sfide aperte dell’ingegneria del software. </a:t>
            </a:r>
          </a:p>
          <a:p>
            <a:r>
              <a:rPr lang="it-IT" dirty="0"/>
              <a:t>La specifica errata o incompleta delle richieste del cliente è una delle cause principali del fallimento dei progetti software. </a:t>
            </a:r>
          </a:p>
          <a:p>
            <a:r>
              <a:rPr lang="it-IT" dirty="0"/>
              <a:t>Il diagramma e la modellazione dei casi d’uso aiutano l’interazione con il cliente e migliorano l’estrazione dei requisiti (funzionali).</a:t>
            </a:r>
          </a:p>
        </p:txBody>
      </p:sp>
    </p:spTree>
    <p:extLst>
      <p:ext uri="{BB962C8B-B14F-4D97-AF65-F5344CB8AC3E}">
        <p14:creationId xmlns:p14="http://schemas.microsoft.com/office/powerpoint/2010/main" val="389382601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908060"/>
            <a:ext cx="10515600" cy="711200"/>
          </a:xfrm>
        </p:spPr>
        <p:txBody>
          <a:bodyPr/>
          <a:lstStyle/>
          <a:p>
            <a:pPr algn="ctr"/>
            <a:r>
              <a:rPr lang="it-IT" dirty="0"/>
              <a:t>Un esempio: conto in banca</a:t>
            </a: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9178" y="1746482"/>
            <a:ext cx="6813643" cy="485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22408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1108084"/>
            <a:ext cx="10515600" cy="554038"/>
          </a:xfrm>
        </p:spPr>
        <p:txBody>
          <a:bodyPr>
            <a:normAutofit fontScale="90000"/>
          </a:bodyPr>
          <a:lstStyle/>
          <a:p>
            <a:r>
              <a:rPr lang="it-IT" dirty="0"/>
              <a:t>				Attore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881187" y="1939925"/>
            <a:ext cx="10153651" cy="4351338"/>
          </a:xfrm>
        </p:spPr>
        <p:txBody>
          <a:bodyPr/>
          <a:lstStyle/>
          <a:p>
            <a:r>
              <a:rPr lang="it-IT" dirty="0"/>
              <a:t>Utilizzatore del sistema che interagisce con i casi d’uso </a:t>
            </a:r>
          </a:p>
          <a:p>
            <a:pPr lvl="1"/>
            <a:r>
              <a:rPr lang="it-IT" dirty="0"/>
              <a:t>Può essere umano oppure un altro sistema</a:t>
            </a:r>
          </a:p>
          <a:p>
            <a:r>
              <a:rPr lang="it-IT" dirty="0"/>
              <a:t>Rappresenta un ruolo di un oggetto </a:t>
            </a:r>
          </a:p>
          <a:p>
            <a:pPr lvl="1"/>
            <a:r>
              <a:rPr lang="it-IT" dirty="0"/>
              <a:t>Un oggetto fisico (classe) può assumere ruoli diversi e quindi essere modellato da più attori. </a:t>
            </a:r>
          </a:p>
          <a:p>
            <a:pPr lvl="1"/>
            <a:r>
              <a:rPr lang="it-IT" dirty="0"/>
              <a:t>Nel caso di attori umani, il nome di un attore identifica il ruolo che l’attore svolge in quel contesto, non il suo incarico o mansione.</a:t>
            </a:r>
          </a:p>
          <a:p>
            <a:r>
              <a:rPr lang="it-IT" dirty="0"/>
              <a:t>Gli attori eseguono casi d’uso: prima si cercano gli attori, poi i loro casi d’uso</a:t>
            </a:r>
          </a:p>
          <a:p>
            <a:r>
              <a:rPr lang="it-IT" dirty="0"/>
              <a:t>Un attore è esterno al sistema. </a:t>
            </a: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28269" y="1108084"/>
            <a:ext cx="1120281" cy="551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15216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969971"/>
            <a:ext cx="10515600" cy="573088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/>
              <a:t>Come individuare gli attori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604963" y="2330450"/>
            <a:ext cx="10515600" cy="4098925"/>
          </a:xfrm>
        </p:spPr>
        <p:txBody>
          <a:bodyPr>
            <a:normAutofit fontScale="92500" lnSpcReduction="20000"/>
          </a:bodyPr>
          <a:lstStyle/>
          <a:p>
            <a:r>
              <a:rPr lang="it-IT" dirty="0"/>
              <a:t>Per individuare un attore è necessario individuare chi/cosa interagisce col sistema e con quale ruolo. </a:t>
            </a:r>
          </a:p>
          <a:p>
            <a:r>
              <a:rPr lang="it-IT" dirty="0"/>
              <a:t>Domande utili:  </a:t>
            </a:r>
          </a:p>
          <a:p>
            <a:pPr lvl="1"/>
            <a:r>
              <a:rPr lang="it-IT" dirty="0"/>
              <a:t>Chi/cosa usa il sistema?  </a:t>
            </a:r>
          </a:p>
          <a:p>
            <a:pPr lvl="1"/>
            <a:r>
              <a:rPr lang="it-IT" dirty="0"/>
              <a:t>Che ruolo ha chi/cosa interagisce col sistema?  </a:t>
            </a:r>
          </a:p>
          <a:p>
            <a:pPr lvl="1"/>
            <a:r>
              <a:rPr lang="it-IT" dirty="0"/>
              <a:t>In quale parte dell’organizzazione è utilizzato il sistema?  </a:t>
            </a:r>
          </a:p>
          <a:p>
            <a:pPr lvl="1"/>
            <a:r>
              <a:rPr lang="it-IT" dirty="0"/>
              <a:t>Chi/cosa avvia il sistema?  </a:t>
            </a:r>
          </a:p>
          <a:p>
            <a:pPr lvl="1"/>
            <a:r>
              <a:rPr lang="it-IT" dirty="0"/>
              <a:t>Chi supporterà e manterrà il sistema?  </a:t>
            </a:r>
          </a:p>
          <a:p>
            <a:pPr lvl="1"/>
            <a:r>
              <a:rPr lang="it-IT" dirty="0"/>
              <a:t>Altri sistemi interagiscono col sistema?  </a:t>
            </a:r>
          </a:p>
          <a:p>
            <a:pPr lvl="1"/>
            <a:r>
              <a:rPr lang="it-IT" dirty="0"/>
              <a:t>Ci sono funzioni attivate periodicamente? es. backup  </a:t>
            </a:r>
          </a:p>
          <a:p>
            <a:pPr lvl="1"/>
            <a:r>
              <a:rPr lang="it-IT" dirty="0"/>
              <a:t>Chi/cosa ottiene o fornisce informazioni dal sistema?  </a:t>
            </a:r>
          </a:p>
          <a:p>
            <a:pPr lvl="1"/>
            <a:r>
              <a:rPr lang="it-IT" dirty="0"/>
              <a:t>Un attore ha diversi ruoli? </a:t>
            </a:r>
          </a:p>
          <a:p>
            <a:pPr lvl="1"/>
            <a:r>
              <a:rPr lang="it-IT" dirty="0"/>
              <a:t>Lo stesso ruolo è assegnato a più attori?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1807251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1060458"/>
            <a:ext cx="10515600" cy="663575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/>
              <a:t>Specializzazione degli attori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500187" y="2206625"/>
            <a:ext cx="10515600" cy="1773252"/>
          </a:xfrm>
        </p:spPr>
        <p:txBody>
          <a:bodyPr/>
          <a:lstStyle/>
          <a:p>
            <a:r>
              <a:rPr lang="it-IT" dirty="0"/>
              <a:t>Gli attori possono essere specializzati e connessi ad altri attori tramite relazioni di </a:t>
            </a:r>
            <a:r>
              <a:rPr lang="it-IT" dirty="0" err="1"/>
              <a:t>generalization</a:t>
            </a:r>
            <a:r>
              <a:rPr lang="it-IT" dirty="0"/>
              <a:t> </a:t>
            </a:r>
          </a:p>
          <a:p>
            <a:r>
              <a:rPr lang="it-IT" dirty="0"/>
              <a:t>Attori specializzati usano le stesse funzionalità degli attori che generalizzano ed eventualmente alcune funzionalità </a:t>
            </a:r>
            <a:r>
              <a:rPr lang="it-IT" dirty="0" err="1"/>
              <a:t>speciﬁche</a:t>
            </a:r>
            <a:r>
              <a:rPr lang="it-IT" dirty="0"/>
              <a:t>.</a:t>
            </a:r>
          </a:p>
          <a:p>
            <a:endParaRPr lang="it-IT" dirty="0"/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422" y="4554348"/>
            <a:ext cx="4045416" cy="1838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765097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979497"/>
            <a:ext cx="10515600" cy="782638"/>
          </a:xfrm>
        </p:spPr>
        <p:txBody>
          <a:bodyPr/>
          <a:lstStyle/>
          <a:p>
            <a:r>
              <a:rPr lang="it-IT" dirty="0"/>
              <a:t>				Use case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676400" y="2706687"/>
            <a:ext cx="9815513" cy="2808288"/>
          </a:xfrm>
        </p:spPr>
        <p:txBody>
          <a:bodyPr/>
          <a:lstStyle/>
          <a:p>
            <a:r>
              <a:rPr lang="it-IT" dirty="0"/>
              <a:t>Rappresenta una particolare modalità d’utilizzo del sistema.</a:t>
            </a:r>
          </a:p>
          <a:p>
            <a:r>
              <a:rPr lang="it-IT" dirty="0"/>
              <a:t>Rappresenta alcune delle funzioni visibili all’attore.</a:t>
            </a:r>
          </a:p>
          <a:p>
            <a:r>
              <a:rPr lang="it-IT" dirty="0"/>
              <a:t>Consente all’attore di raggiungere alcuni obiettivi </a:t>
            </a:r>
          </a:p>
          <a:p>
            <a:pPr lvl="1"/>
            <a:r>
              <a:rPr lang="it-IT" dirty="0"/>
              <a:t>Manipolazione di informazione </a:t>
            </a:r>
          </a:p>
          <a:p>
            <a:pPr lvl="1"/>
            <a:r>
              <a:rPr lang="it-IT" dirty="0"/>
              <a:t>Esecuzione di funzione </a:t>
            </a:r>
          </a:p>
          <a:p>
            <a:pPr lvl="1"/>
            <a:r>
              <a:rPr lang="it-IT" dirty="0"/>
              <a:t>es. archivia documento</a:t>
            </a: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757" y="1013628"/>
            <a:ext cx="1571625" cy="714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32233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989026"/>
            <a:ext cx="10515600" cy="582613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/>
              <a:t>Relazioni tra attori e use case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38200" y="4430391"/>
            <a:ext cx="10515600" cy="1962004"/>
          </a:xfrm>
        </p:spPr>
        <p:txBody>
          <a:bodyPr/>
          <a:lstStyle/>
          <a:p>
            <a:r>
              <a:rPr lang="it-IT" dirty="0"/>
              <a:t>La relazione indica l’esistenza di un’associazione tra un attore ed un caso d’uso. </a:t>
            </a:r>
          </a:p>
          <a:p>
            <a:pPr lvl="1"/>
            <a:r>
              <a:rPr lang="it-IT" dirty="0"/>
              <a:t>Quindi una particolare persona (o sistema) che si trova in un certo ruolo comunica con specifiche istanze del caso d’uso, partecipando agli eventi rappresentati dal caso.</a:t>
            </a: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2984" y="1761298"/>
            <a:ext cx="5507372" cy="2056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94359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1031889"/>
            <a:ext cx="10515600" cy="658813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/>
              <a:t>Rappresentazioni accessorie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924050" y="2082800"/>
            <a:ext cx="9872663" cy="2260600"/>
          </a:xfrm>
        </p:spPr>
        <p:txBody>
          <a:bodyPr/>
          <a:lstStyle/>
          <a:p>
            <a:r>
              <a:rPr lang="it-IT" dirty="0"/>
              <a:t>Con i diagrammi dei casi d’uso si possono inoltre rappresentare:</a:t>
            </a:r>
          </a:p>
          <a:p>
            <a:pPr lvl="1"/>
            <a:r>
              <a:rPr lang="it-IT" dirty="0"/>
              <a:t>Generalizzazioni tra casi d’uso </a:t>
            </a:r>
          </a:p>
          <a:p>
            <a:pPr lvl="1"/>
            <a:r>
              <a:rPr lang="it-IT" dirty="0"/>
              <a:t>Generalizzazioni tra attori </a:t>
            </a:r>
          </a:p>
          <a:p>
            <a:pPr lvl="1"/>
            <a:r>
              <a:rPr lang="it-IT" dirty="0"/>
              <a:t>Relazioni di inclusione tra casi d’uso (include) </a:t>
            </a:r>
          </a:p>
          <a:p>
            <a:pPr lvl="1"/>
            <a:r>
              <a:rPr lang="it-IT" dirty="0"/>
              <a:t>Relazioni di estensione tra casi d’uso (</a:t>
            </a:r>
            <a:r>
              <a:rPr lang="it-IT" dirty="0" err="1"/>
              <a:t>extend</a:t>
            </a:r>
            <a:r>
              <a:rPr lang="it-IT" dirty="0"/>
              <a:t>)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65601136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1060459"/>
            <a:ext cx="10515600" cy="692150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/>
              <a:t>Generalizzazione tra casi d’uso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571625" y="2401887"/>
            <a:ext cx="10515600" cy="2774950"/>
          </a:xfrm>
        </p:spPr>
        <p:txBody>
          <a:bodyPr/>
          <a:lstStyle/>
          <a:p>
            <a:r>
              <a:rPr lang="it-IT" dirty="0"/>
              <a:t>Può esistere più di una versione di un caso d’uso, aventi ognuna alcune azioni in comune ed altre uniche per ciascun caso.</a:t>
            </a:r>
          </a:p>
          <a:p>
            <a:r>
              <a:rPr lang="it-IT" dirty="0"/>
              <a:t>Nel diagramma si associano i casi d’uso con una freccia puntata verso il caso d’uso più generale.</a:t>
            </a:r>
          </a:p>
          <a:p>
            <a:r>
              <a:rPr lang="it-IT" dirty="0"/>
              <a:t>Il caso d’uso specializzato eredita parte delle funzionalità del caso d’uso generico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02142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528763" y="1027112"/>
            <a:ext cx="10515600" cy="758825"/>
          </a:xfrm>
        </p:spPr>
        <p:txBody>
          <a:bodyPr/>
          <a:lstStyle/>
          <a:p>
            <a:pPr algn="ctr"/>
            <a:r>
              <a:rPr lang="it-IT" dirty="0"/>
              <a:t>Esempio generalizzazione Casi d’uso</a:t>
            </a: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3825" y="2377949"/>
            <a:ext cx="7105475" cy="3566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50590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1060459"/>
            <a:ext cx="10515600" cy="687388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/>
              <a:t>Generalizzazione tra attori</a:t>
            </a: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725" y="2267779"/>
            <a:ext cx="5968549" cy="3571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79025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969970"/>
            <a:ext cx="10515600" cy="639763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/>
              <a:t>Inclusione tra casi d’uso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400175" y="2244725"/>
            <a:ext cx="10515600" cy="1580305"/>
          </a:xfrm>
        </p:spPr>
        <p:txBody>
          <a:bodyPr/>
          <a:lstStyle/>
          <a:p>
            <a:r>
              <a:rPr lang="it-IT" dirty="0"/>
              <a:t>Un caso d’uso comprende le funzionalità di un altro caso. </a:t>
            </a:r>
          </a:p>
          <a:p>
            <a:pPr lvl="1"/>
            <a:r>
              <a:rPr lang="it-IT" dirty="0"/>
              <a:t>Una relazione di inclusione da un caso d’uso A(base) ad un caso d’uso B(incluso) indica che le funzionalità del caso d’uso B saranno sempre presenti in un istanza del caso d’uso A. </a:t>
            </a: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084" y="3885712"/>
            <a:ext cx="8272202" cy="2543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4369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898533"/>
            <a:ext cx="10515600" cy="677863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/>
              <a:t>Estensione di un caso d’uso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600200" y="2149304"/>
            <a:ext cx="10515600" cy="2054283"/>
          </a:xfrm>
        </p:spPr>
        <p:txBody>
          <a:bodyPr/>
          <a:lstStyle/>
          <a:p>
            <a:r>
              <a:rPr lang="it-IT" dirty="0"/>
              <a:t>Un caso d’uso può essere esteso nella sua funzionalità ad un altro caso </a:t>
            </a:r>
          </a:p>
          <a:p>
            <a:pPr lvl="1"/>
            <a:r>
              <a:rPr lang="it-IT" dirty="0"/>
              <a:t>Una relazione di estensione da un caso d’uso A ad un caso d’uso B indica che un istanza del caso d’uso B può essere maggiorata, sotto determinate condizioni specificate nell’estensione, dal comportamento di A.</a:t>
            </a: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8207" y="4275025"/>
            <a:ext cx="6425967" cy="207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1845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DC40F7-DE89-6017-6F25-B93628ADB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include /  </a:t>
            </a:r>
            <a:r>
              <a:rPr lang="it-IT" dirty="0" err="1"/>
              <a:t>extend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5BA0EA6-63D1-C2A3-E42C-C8DC16CDAD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Include specifica comportamento obbligatorio. </a:t>
            </a:r>
          </a:p>
          <a:p>
            <a:r>
              <a:rPr lang="it-IT" dirty="0" err="1"/>
              <a:t>Extend</a:t>
            </a:r>
            <a:r>
              <a:rPr lang="it-IT" dirty="0"/>
              <a:t> specifica comportamento supplementare (varianti). </a:t>
            </a:r>
          </a:p>
          <a:p>
            <a:r>
              <a:rPr lang="it-IT" dirty="0"/>
              <a:t>Nell’include la freccia va dal caso d’uso che include verso quello incluso. </a:t>
            </a:r>
          </a:p>
          <a:p>
            <a:r>
              <a:rPr lang="it-IT" dirty="0"/>
              <a:t>Nell’</a:t>
            </a:r>
            <a:r>
              <a:rPr lang="it-IT" dirty="0" err="1"/>
              <a:t>extend</a:t>
            </a:r>
            <a:r>
              <a:rPr lang="it-IT" dirty="0"/>
              <a:t> la freccia va dal caso d’uso che estende verso quello esteso. </a:t>
            </a:r>
          </a:p>
          <a:p>
            <a:r>
              <a:rPr lang="it-IT" dirty="0"/>
              <a:t>Sono entrambi costrutti utili, ma non si deve esagerare, altrimenti si perde leggibilità.</a:t>
            </a:r>
          </a:p>
        </p:txBody>
      </p:sp>
    </p:spTree>
    <p:extLst>
      <p:ext uri="{BB962C8B-B14F-4D97-AF65-F5344CB8AC3E}">
        <p14:creationId xmlns:p14="http://schemas.microsoft.com/office/powerpoint/2010/main" val="86090285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974733"/>
            <a:ext cx="10515600" cy="758825"/>
          </a:xfrm>
        </p:spPr>
        <p:txBody>
          <a:bodyPr/>
          <a:lstStyle/>
          <a:p>
            <a:pPr algn="ctr"/>
            <a:r>
              <a:rPr lang="it-IT" dirty="0"/>
              <a:t>Diagramma delle classi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600200" y="2530475"/>
            <a:ext cx="10515600" cy="3160713"/>
          </a:xfrm>
        </p:spPr>
        <p:txBody>
          <a:bodyPr/>
          <a:lstStyle/>
          <a:p>
            <a:r>
              <a:rPr lang="it-IT" dirty="0"/>
              <a:t>I diagrammi delle classi rappresentano le classi e gli oggetti, con i relativi attributi ed operazioni, che compongono il sistema. </a:t>
            </a:r>
          </a:p>
          <a:p>
            <a:pPr lvl="1"/>
            <a:r>
              <a:rPr lang="it-IT" dirty="0"/>
              <a:t>Rappresenta graficamente la parte statica del sistema.</a:t>
            </a:r>
          </a:p>
          <a:p>
            <a:r>
              <a:rPr lang="it-IT" dirty="0"/>
              <a:t>Specifica mediante associazioni, i vincoli che legano le varie classi del sistema.</a:t>
            </a:r>
          </a:p>
          <a:p>
            <a:r>
              <a:rPr lang="it-IT" dirty="0"/>
              <a:t>Può essere redatto a molteplici livelli di dettaglio (analisi, progettazione di dettaglio)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501599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969970"/>
            <a:ext cx="10515600" cy="582613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/>
              <a:t>Esempio</a:t>
            </a: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DE85DC02-D6ED-F29E-F55E-F9BFE0E927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455" y="1649730"/>
            <a:ext cx="8201025" cy="4917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9734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1060458"/>
            <a:ext cx="10515600" cy="644525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/>
              <a:t>Classe Parte 1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243137" y="2097087"/>
            <a:ext cx="7005638" cy="1957810"/>
          </a:xfrm>
        </p:spPr>
        <p:txBody>
          <a:bodyPr/>
          <a:lstStyle/>
          <a:p>
            <a:r>
              <a:rPr lang="it-IT" dirty="0"/>
              <a:t>Rappresentazione di una classe </a:t>
            </a:r>
          </a:p>
          <a:p>
            <a:pPr lvl="1"/>
            <a:r>
              <a:rPr lang="it-IT" dirty="0"/>
              <a:t>Nome </a:t>
            </a:r>
          </a:p>
          <a:p>
            <a:pPr lvl="1"/>
            <a:r>
              <a:rPr lang="it-IT" dirty="0"/>
              <a:t>Attributi </a:t>
            </a:r>
          </a:p>
          <a:p>
            <a:pPr lvl="1"/>
            <a:r>
              <a:rPr lang="it-IT" dirty="0"/>
              <a:t>Operazioni (metodi)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8562825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1060458"/>
            <a:ext cx="10515600" cy="663575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/>
              <a:t>Classe Parte 2</a:t>
            </a: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6686" y="2057784"/>
            <a:ext cx="9659923" cy="4264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11150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1012834"/>
            <a:ext cx="10515600" cy="582612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/>
              <a:t>Attributi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900238" y="2463800"/>
            <a:ext cx="9324975" cy="3703638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visibilità nome: tipo molteplicità = default {proprietà}</a:t>
            </a:r>
          </a:p>
          <a:p>
            <a:r>
              <a:rPr lang="it-IT" dirty="0"/>
              <a:t>Visibilità 		attributo pubblico o privato</a:t>
            </a:r>
          </a:p>
          <a:p>
            <a:r>
              <a:rPr lang="it-IT" dirty="0"/>
              <a:t>Nome 		nome della variabile </a:t>
            </a:r>
          </a:p>
          <a:p>
            <a:r>
              <a:rPr lang="it-IT" dirty="0"/>
              <a:t>Tipo 		tipo di dato (</a:t>
            </a:r>
            <a:r>
              <a:rPr lang="it-IT" dirty="0" err="1"/>
              <a:t>String</a:t>
            </a:r>
            <a:r>
              <a:rPr lang="it-IT" dirty="0"/>
              <a:t>, </a:t>
            </a:r>
            <a:r>
              <a:rPr lang="it-IT" dirty="0" err="1"/>
              <a:t>Integer</a:t>
            </a:r>
            <a:r>
              <a:rPr lang="it-IT" dirty="0"/>
              <a:t>, Classe, ...) </a:t>
            </a:r>
          </a:p>
          <a:p>
            <a:r>
              <a:rPr lang="it-IT" dirty="0"/>
              <a:t>Molteplicità 	numero di elementi</a:t>
            </a:r>
          </a:p>
          <a:p>
            <a:r>
              <a:rPr lang="it-IT" dirty="0"/>
              <a:t>Default 		valore iniziale dell’attributo </a:t>
            </a:r>
          </a:p>
          <a:p>
            <a:r>
              <a:rPr lang="it-IT" dirty="0"/>
              <a:t>Proprietà 		proprietà aggiuntive (</a:t>
            </a:r>
            <a:r>
              <a:rPr lang="it-IT" dirty="0" err="1"/>
              <a:t>const</a:t>
            </a:r>
            <a:r>
              <a:rPr lang="it-IT" dirty="0"/>
              <a:t>, </a:t>
            </a:r>
            <a:r>
              <a:rPr lang="it-IT" dirty="0" err="1"/>
              <a:t>readOnly</a:t>
            </a:r>
            <a:r>
              <a:rPr lang="it-IT" dirty="0"/>
              <a:t>, ...)</a:t>
            </a:r>
          </a:p>
        </p:txBody>
      </p:sp>
    </p:spTree>
    <p:extLst>
      <p:ext uri="{BB962C8B-B14F-4D97-AF65-F5344CB8AC3E}">
        <p14:creationId xmlns:p14="http://schemas.microsoft.com/office/powerpoint/2010/main" val="182080511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984259"/>
            <a:ext cx="10515600" cy="639763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/>
              <a:t>Operazioni/Metodi (firma)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200275" y="2039937"/>
            <a:ext cx="9725025" cy="4051300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visibilità nome (</a:t>
            </a:r>
            <a:r>
              <a:rPr lang="it-IT" dirty="0" err="1"/>
              <a:t>nomeParametro:tipo</a:t>
            </a:r>
            <a:r>
              <a:rPr lang="it-IT" dirty="0"/>
              <a:t>,...): </a:t>
            </a:r>
            <a:r>
              <a:rPr lang="it-IT" dirty="0" err="1"/>
              <a:t>tipoRestituito</a:t>
            </a:r>
            <a:endParaRPr lang="it-IT" dirty="0"/>
          </a:p>
          <a:p>
            <a:r>
              <a:rPr lang="it-IT" dirty="0"/>
              <a:t>Visibilità 		pubblico o privato</a:t>
            </a:r>
          </a:p>
          <a:p>
            <a:r>
              <a:rPr lang="it-IT" dirty="0"/>
              <a:t>Nome 		nome del metodo (</a:t>
            </a:r>
            <a:r>
              <a:rPr lang="it-IT" dirty="0" err="1"/>
              <a:t>camelCase</a:t>
            </a:r>
            <a:r>
              <a:rPr lang="it-IT" dirty="0"/>
              <a:t>) </a:t>
            </a:r>
          </a:p>
          <a:p>
            <a:r>
              <a:rPr lang="it-IT" dirty="0"/>
              <a:t>Parametri 		elenco nome e tipo di dato </a:t>
            </a:r>
          </a:p>
          <a:p>
            <a:r>
              <a:rPr lang="it-IT" dirty="0"/>
              <a:t>Tipo	Restituito 	tipo di dato restituito</a:t>
            </a:r>
          </a:p>
          <a:p>
            <a:endParaRPr lang="it-IT" dirty="0"/>
          </a:p>
          <a:p>
            <a:r>
              <a:rPr lang="it-IT" dirty="0"/>
              <a:t>Ogni operazione di una classe deve avere una firma univoca (</a:t>
            </a:r>
            <a:r>
              <a:rPr lang="it-IT" dirty="0" err="1"/>
              <a:t>signature</a:t>
            </a:r>
            <a:r>
              <a:rPr lang="it-IT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31479621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1012834"/>
            <a:ext cx="10515600" cy="692150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/>
              <a:t>Visibilità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595437" y="2297113"/>
            <a:ext cx="10515600" cy="3808413"/>
          </a:xfrm>
        </p:spPr>
        <p:txBody>
          <a:bodyPr/>
          <a:lstStyle/>
          <a:p>
            <a:r>
              <a:rPr lang="it-IT" dirty="0"/>
              <a:t>Un elemento è visibile all’esterno del </a:t>
            </a:r>
            <a:r>
              <a:rPr lang="it-IT" dirty="0" err="1"/>
              <a:t>namespace</a:t>
            </a:r>
            <a:r>
              <a:rPr lang="it-IT" dirty="0"/>
              <a:t> (package) o della classe che lo contiene a seconda della sua visibilità. </a:t>
            </a:r>
          </a:p>
          <a:p>
            <a:pPr lvl="1"/>
            <a:r>
              <a:rPr lang="it-IT" dirty="0"/>
              <a:t>Concetto fondamentale della OOP: incapsulamento o information </a:t>
            </a:r>
            <a:r>
              <a:rPr lang="it-IT" dirty="0" err="1"/>
              <a:t>hiding</a:t>
            </a:r>
            <a:r>
              <a:rPr lang="it-IT" dirty="0"/>
              <a:t>.</a:t>
            </a:r>
          </a:p>
          <a:p>
            <a:pPr marL="457200" lvl="1" indent="0">
              <a:buNone/>
            </a:pPr>
            <a:endParaRPr lang="it-IT" dirty="0"/>
          </a:p>
          <a:p>
            <a:pPr marL="0" indent="0">
              <a:buNone/>
            </a:pPr>
            <a:r>
              <a:rPr lang="it-IT" dirty="0"/>
              <a:t>public altri elementi possono vedere ed usare </a:t>
            </a:r>
          </a:p>
          <a:p>
            <a:pPr marL="0" indent="0">
              <a:buNone/>
            </a:pPr>
            <a:r>
              <a:rPr lang="it-IT" dirty="0" err="1"/>
              <a:t>protected</a:t>
            </a:r>
            <a:r>
              <a:rPr lang="it-IT" dirty="0"/>
              <a:t> solo dai suoi discendenti (ereditarietà) </a:t>
            </a:r>
          </a:p>
          <a:p>
            <a:pPr marL="0" indent="0">
              <a:buNone/>
            </a:pPr>
            <a:r>
              <a:rPr lang="it-IT" dirty="0"/>
              <a:t>private solo dagli elementi nell’elemento stesso </a:t>
            </a:r>
          </a:p>
          <a:p>
            <a:pPr marL="0" indent="0">
              <a:buNone/>
            </a:pPr>
            <a:r>
              <a:rPr lang="it-IT" dirty="0"/>
              <a:t>package solo dagli elementi nello stesso package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3404629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1022360"/>
            <a:ext cx="10515600" cy="668338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/>
              <a:t>Relazioni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400300" y="2006600"/>
            <a:ext cx="9296400" cy="4279900"/>
          </a:xfrm>
        </p:spPr>
        <p:txBody>
          <a:bodyPr/>
          <a:lstStyle/>
          <a:p>
            <a:r>
              <a:rPr lang="it-IT" dirty="0"/>
              <a:t>Una relazione rappresenta un legame tra due oggetti </a:t>
            </a:r>
          </a:p>
          <a:p>
            <a:pPr lvl="1"/>
            <a:r>
              <a:rPr lang="it-IT" dirty="0"/>
              <a:t>Normalmente tra istanze di classi diverse (non necessariamente)</a:t>
            </a:r>
          </a:p>
          <a:p>
            <a:r>
              <a:rPr lang="it-IT" dirty="0"/>
              <a:t>UML fornisce rappresentazioni grafiche per </a:t>
            </a:r>
          </a:p>
          <a:p>
            <a:pPr lvl="1"/>
            <a:r>
              <a:rPr lang="it-IT" dirty="0"/>
              <a:t>Associazione </a:t>
            </a:r>
          </a:p>
          <a:p>
            <a:pPr lvl="2"/>
            <a:r>
              <a:rPr lang="it-IT" dirty="0"/>
              <a:t>Aggregazione </a:t>
            </a:r>
          </a:p>
          <a:p>
            <a:pPr lvl="2"/>
            <a:r>
              <a:rPr lang="it-IT" dirty="0"/>
              <a:t>Composizione </a:t>
            </a:r>
          </a:p>
          <a:p>
            <a:pPr lvl="1"/>
            <a:r>
              <a:rPr lang="it-IT" dirty="0"/>
              <a:t>Generalizzazione </a:t>
            </a:r>
          </a:p>
          <a:p>
            <a:pPr lvl="1"/>
            <a:r>
              <a:rPr lang="it-IT" dirty="0"/>
              <a:t>Dipendenza </a:t>
            </a:r>
          </a:p>
          <a:p>
            <a:pPr lvl="2"/>
            <a:r>
              <a:rPr lang="it-IT" dirty="0"/>
              <a:t>Uso </a:t>
            </a:r>
          </a:p>
          <a:p>
            <a:pPr lvl="2"/>
            <a:r>
              <a:rPr lang="it-IT" dirty="0"/>
              <a:t>Realizzazione</a:t>
            </a:r>
          </a:p>
        </p:txBody>
      </p:sp>
    </p:spTree>
    <p:extLst>
      <p:ext uri="{BB962C8B-B14F-4D97-AF65-F5344CB8AC3E}">
        <p14:creationId xmlns:p14="http://schemas.microsoft.com/office/powerpoint/2010/main" val="363193367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2624" y="5320312"/>
            <a:ext cx="8607105" cy="1365105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927108"/>
            <a:ext cx="10515600" cy="749300"/>
          </a:xfrm>
        </p:spPr>
        <p:txBody>
          <a:bodyPr/>
          <a:lstStyle/>
          <a:p>
            <a:pPr algn="ctr"/>
            <a:r>
              <a:rPr lang="it-IT" dirty="0"/>
              <a:t>Aggregazione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576387" y="2178050"/>
            <a:ext cx="10515600" cy="3280375"/>
          </a:xfrm>
        </p:spPr>
        <p:txBody>
          <a:bodyPr/>
          <a:lstStyle/>
          <a:p>
            <a:r>
              <a:rPr lang="it-IT" dirty="0"/>
              <a:t>Speciale forma di associazione </a:t>
            </a:r>
          </a:p>
          <a:p>
            <a:pPr lvl="1"/>
            <a:r>
              <a:rPr lang="it-IT" dirty="0"/>
              <a:t>Relazione tra l’aggregato e le parti che lo compongono </a:t>
            </a:r>
          </a:p>
          <a:p>
            <a:pPr lvl="1"/>
            <a:r>
              <a:rPr lang="it-IT" dirty="0"/>
              <a:t>Relazione debole: le parti esistono anche senza il tutto</a:t>
            </a:r>
          </a:p>
          <a:p>
            <a:r>
              <a:rPr lang="it-IT" dirty="0"/>
              <a:t>L'aggregato può in alcuni casi esistere indipendentemente dalle parti, ma in altri casi no. </a:t>
            </a:r>
          </a:p>
          <a:p>
            <a:r>
              <a:rPr lang="it-IT" dirty="0"/>
              <a:t>Più aggregati possono condividere la stessa parte </a:t>
            </a:r>
          </a:p>
          <a:p>
            <a:r>
              <a:rPr lang="it-IT" dirty="0"/>
              <a:t>Transitiva e asimmetrica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6868801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3427" y="3729204"/>
            <a:ext cx="6412944" cy="3066884"/>
          </a:xfrm>
          <a:prstGeom prst="rect">
            <a:avLst/>
          </a:prstGeom>
        </p:spPr>
      </p:pic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917582"/>
            <a:ext cx="10515600" cy="725488"/>
          </a:xfrm>
        </p:spPr>
        <p:txBody>
          <a:bodyPr/>
          <a:lstStyle/>
          <a:p>
            <a:pPr algn="ctr"/>
            <a:r>
              <a:rPr lang="it-IT" dirty="0"/>
              <a:t>Composizione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109787" y="1690018"/>
            <a:ext cx="9420225" cy="2272382"/>
          </a:xfrm>
        </p:spPr>
        <p:txBody>
          <a:bodyPr/>
          <a:lstStyle/>
          <a:p>
            <a:r>
              <a:rPr lang="it-IT" dirty="0"/>
              <a:t>Speciale forma di associazione </a:t>
            </a:r>
          </a:p>
          <a:p>
            <a:pPr lvl="1"/>
            <a:r>
              <a:rPr lang="it-IT" dirty="0"/>
              <a:t>Relazione molto forte: le parti dipendono dall’aggregato. </a:t>
            </a:r>
          </a:p>
          <a:p>
            <a:pPr lvl="1"/>
            <a:r>
              <a:rPr lang="it-IT" dirty="0"/>
              <a:t>Ogni parte può appartenere ad un solo composito per volta </a:t>
            </a:r>
          </a:p>
          <a:p>
            <a:pPr lvl="2"/>
            <a:r>
              <a:rPr lang="it-IT" dirty="0"/>
              <a:t>Il composito è l'unico responsabile di tutte le sue parti: questo vuol dire che è responsabile della loro creazione e distruzione</a:t>
            </a:r>
          </a:p>
          <a:p>
            <a:pPr lvl="2"/>
            <a:r>
              <a:rPr lang="it-IT" dirty="0"/>
              <a:t>Se il composito viene distrutto, devono essere distrutte anche le sue parti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25217144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542365" y="878648"/>
            <a:ext cx="10515600" cy="711200"/>
          </a:xfrm>
        </p:spPr>
        <p:txBody>
          <a:bodyPr/>
          <a:lstStyle/>
          <a:p>
            <a:pPr algn="ctr"/>
            <a:r>
              <a:rPr lang="it-IT" dirty="0"/>
              <a:t>Generalizzazione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509153" y="2201022"/>
            <a:ext cx="10429875" cy="2175924"/>
          </a:xfrm>
        </p:spPr>
        <p:txBody>
          <a:bodyPr/>
          <a:lstStyle/>
          <a:p>
            <a:r>
              <a:rPr lang="it-IT" dirty="0"/>
              <a:t>La relazione di generalizzazione indica che una delle due classi considerate è sottotipo (specializzazione) dell’altra (</a:t>
            </a:r>
            <a:r>
              <a:rPr lang="it-IT" dirty="0" err="1"/>
              <a:t>supertipo</a:t>
            </a:r>
            <a:r>
              <a:rPr lang="it-IT" dirty="0"/>
              <a:t>). </a:t>
            </a:r>
          </a:p>
          <a:p>
            <a:pPr lvl="1"/>
            <a:r>
              <a:rPr lang="it-IT" dirty="0"/>
              <a:t>Ogni istanza del sottotipo è</a:t>
            </a:r>
            <a:r>
              <a:rPr lang="it-IT"/>
              <a:t>/può </a:t>
            </a:r>
            <a:r>
              <a:rPr lang="it-IT" dirty="0"/>
              <a:t>anche istanza del </a:t>
            </a:r>
            <a:r>
              <a:rPr lang="it-IT" dirty="0" err="1"/>
              <a:t>supertipo</a:t>
            </a:r>
            <a:r>
              <a:rPr lang="it-IT" dirty="0"/>
              <a:t> (polimorfismo). </a:t>
            </a:r>
          </a:p>
          <a:p>
            <a:r>
              <a:rPr lang="it-IT" dirty="0"/>
              <a:t>In UML la generalizzazione viene indicata con una freccia con la testa vuota.</a:t>
            </a:r>
          </a:p>
        </p:txBody>
      </p:sp>
      <p:sp>
        <p:nvSpPr>
          <p:cNvPr id="4" name="Rettangolo 3"/>
          <p:cNvSpPr/>
          <p:nvPr/>
        </p:nvSpPr>
        <p:spPr>
          <a:xfrm>
            <a:off x="4687226" y="4254082"/>
            <a:ext cx="1585519" cy="53689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FORMA</a:t>
            </a:r>
          </a:p>
        </p:txBody>
      </p:sp>
      <p:sp>
        <p:nvSpPr>
          <p:cNvPr id="5" name="Rettangolo 4"/>
          <p:cNvSpPr/>
          <p:nvPr/>
        </p:nvSpPr>
        <p:spPr>
          <a:xfrm>
            <a:off x="3578935" y="5780411"/>
            <a:ext cx="1032061" cy="31382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Poligono</a:t>
            </a:r>
          </a:p>
        </p:txBody>
      </p:sp>
      <p:sp>
        <p:nvSpPr>
          <p:cNvPr id="7" name="Rettangolo 6"/>
          <p:cNvSpPr/>
          <p:nvPr/>
        </p:nvSpPr>
        <p:spPr>
          <a:xfrm>
            <a:off x="4912234" y="5771563"/>
            <a:ext cx="1135501" cy="3226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Ellisse</a:t>
            </a:r>
          </a:p>
        </p:txBody>
      </p:sp>
      <p:sp>
        <p:nvSpPr>
          <p:cNvPr id="8" name="Rettangolo 7"/>
          <p:cNvSpPr/>
          <p:nvPr/>
        </p:nvSpPr>
        <p:spPr>
          <a:xfrm>
            <a:off x="6371940" y="5782613"/>
            <a:ext cx="1097005" cy="31162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Polilinea</a:t>
            </a:r>
          </a:p>
        </p:txBody>
      </p:sp>
      <p:pic>
        <p:nvPicPr>
          <p:cNvPr id="21" name="Immagine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4726" y="4800367"/>
            <a:ext cx="2945757" cy="9706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870985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960448"/>
            <a:ext cx="10515600" cy="639763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/>
              <a:t>Dipendenza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613745" y="2300259"/>
            <a:ext cx="10377487" cy="2159146"/>
          </a:xfrm>
        </p:spPr>
        <p:txBody>
          <a:bodyPr/>
          <a:lstStyle/>
          <a:p>
            <a:r>
              <a:rPr lang="it-IT" dirty="0"/>
              <a:t>Forma debole di relazione </a:t>
            </a:r>
          </a:p>
          <a:p>
            <a:r>
              <a:rPr lang="it-IT" dirty="0"/>
              <a:t>Sta ad indicare che una classe dipende da un’altra, in quanto quest’ultima viene utilizzata dalla prima. </a:t>
            </a:r>
          </a:p>
          <a:p>
            <a:pPr lvl="1"/>
            <a:r>
              <a:rPr lang="it-IT" dirty="0"/>
              <a:t>Esiste dipendenza se una classe è un parametro o una variabile di un metodo di un’altra classe.</a:t>
            </a:r>
          </a:p>
          <a:p>
            <a:endParaRPr lang="it-IT" dirty="0"/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432" y="4126030"/>
            <a:ext cx="710565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37565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1012834"/>
            <a:ext cx="10515600" cy="668338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/>
              <a:t>Classi astratte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843087" y="2114978"/>
            <a:ext cx="10348913" cy="3186797"/>
          </a:xfrm>
        </p:spPr>
        <p:txBody>
          <a:bodyPr>
            <a:normAutofit lnSpcReduction="10000"/>
          </a:bodyPr>
          <a:lstStyle/>
          <a:p>
            <a:r>
              <a:rPr lang="it-IT" dirty="0"/>
              <a:t>Una classe astratta è una classe che non può essere istanziata direttamente. </a:t>
            </a:r>
          </a:p>
          <a:p>
            <a:pPr lvl="1"/>
            <a:r>
              <a:rPr lang="it-IT" dirty="0"/>
              <a:t>Per poterla istanziare è necessario estenderla e realizzarne quindi una classe concreta.</a:t>
            </a:r>
          </a:p>
          <a:p>
            <a:r>
              <a:rPr lang="it-IT" dirty="0"/>
              <a:t>Analogamente esistono le operazioni astratte, che definiscono la firma ma non l’implementazione.</a:t>
            </a:r>
          </a:p>
          <a:p>
            <a:r>
              <a:rPr lang="it-IT" dirty="0"/>
              <a:t>Le operazioni e le classi astratte sono indicate scrivendo il nome in corsivo.</a:t>
            </a: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8404" y="5045051"/>
            <a:ext cx="3093572" cy="1381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337413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1060459"/>
            <a:ext cx="10515600" cy="649288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/>
              <a:t>Interfacce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790700" y="2278063"/>
            <a:ext cx="10206038" cy="2230452"/>
          </a:xfrm>
        </p:spPr>
        <p:txBody>
          <a:bodyPr/>
          <a:lstStyle/>
          <a:p>
            <a:r>
              <a:rPr lang="it-IT" dirty="0"/>
              <a:t>Insieme dei metodi visibili dall’esterno di un oggetto. </a:t>
            </a:r>
          </a:p>
          <a:p>
            <a:r>
              <a:rPr lang="it-IT" dirty="0"/>
              <a:t>L’interfaccia è intesa come astrazione per la fruizione dall’esterno. </a:t>
            </a:r>
          </a:p>
          <a:p>
            <a:pPr lvl="1"/>
            <a:r>
              <a:rPr lang="it-IT" dirty="0"/>
              <a:t>Questo consente di separare la dichiarazione delle firme dall’implementazione reale, favorendo generalizzazione e polimorfismo. </a:t>
            </a:r>
          </a:p>
          <a:p>
            <a:r>
              <a:rPr lang="it-IT" dirty="0"/>
              <a:t>Rappresentata come una classe con lo </a:t>
            </a:r>
            <a:r>
              <a:rPr lang="it-IT" dirty="0" err="1"/>
              <a:t>sterotipo</a:t>
            </a:r>
            <a:r>
              <a:rPr lang="it-IT" dirty="0"/>
              <a:t> &lt;&lt;</a:t>
            </a:r>
            <a:r>
              <a:rPr lang="it-IT" dirty="0" err="1"/>
              <a:t>interface</a:t>
            </a:r>
            <a:r>
              <a:rPr lang="it-IT" dirty="0"/>
              <a:t>&gt;&gt;.</a:t>
            </a:r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5574" y="5229312"/>
            <a:ext cx="2983596" cy="1229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229083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200" y="1060458"/>
            <a:ext cx="10515600" cy="682625"/>
          </a:xfrm>
        </p:spPr>
        <p:txBody>
          <a:bodyPr>
            <a:normAutofit fontScale="90000"/>
          </a:bodyPr>
          <a:lstStyle/>
          <a:p>
            <a:pPr algn="ctr"/>
            <a:r>
              <a:rPr lang="it-IT" dirty="0"/>
              <a:t>Realizzazione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1490663" y="2287588"/>
            <a:ext cx="10515600" cy="3056768"/>
          </a:xfrm>
        </p:spPr>
        <p:txBody>
          <a:bodyPr/>
          <a:lstStyle/>
          <a:p>
            <a:r>
              <a:rPr lang="it-IT" dirty="0"/>
              <a:t>Una relazione di realizzazione tra una classe o un componente e una o più interfacce, mostra che la classe realizza le operazioni offerte dall’interfaccia. </a:t>
            </a:r>
          </a:p>
          <a:p>
            <a:pPr lvl="1"/>
            <a:r>
              <a:rPr lang="it-IT" dirty="0"/>
              <a:t>Nella modellazione UML la relazione, nella quale un elemento realizza il comportamento specificato dall’elemento fornitore, viene indicata da una freccia vuota con linea tratteggiata. </a:t>
            </a:r>
          </a:p>
          <a:p>
            <a:pPr lvl="1"/>
            <a:r>
              <a:rPr lang="it-IT" dirty="0"/>
              <a:t>A partire da UML 2.0 è possibile visualizzare la relazione utilizzando anche i </a:t>
            </a:r>
            <a:r>
              <a:rPr lang="it-IT" dirty="0" err="1"/>
              <a:t>cosidetti</a:t>
            </a:r>
            <a:r>
              <a:rPr lang="it-IT" dirty="0"/>
              <a:t> “lecca-lecca”, specificando il nome dell’interfaccia implementata.</a:t>
            </a:r>
          </a:p>
          <a:p>
            <a:endParaRPr lang="it-IT" dirty="0"/>
          </a:p>
        </p:txBody>
      </p:sp>
      <p:pic>
        <p:nvPicPr>
          <p:cNvPr id="4" name="Immagin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287" y="5603118"/>
            <a:ext cx="2011161" cy="73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2896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1249</TotalTime>
  <Words>3364</Words>
  <Application>Microsoft Office PowerPoint</Application>
  <PresentationFormat>Widescreen</PresentationFormat>
  <Paragraphs>370</Paragraphs>
  <Slides>65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65</vt:i4>
      </vt:variant>
    </vt:vector>
  </HeadingPairs>
  <TitlesOfParts>
    <vt:vector size="70" baseType="lpstr">
      <vt:lpstr>Arial</vt:lpstr>
      <vt:lpstr>Bahnschrift Condensed</vt:lpstr>
      <vt:lpstr>Calibri</vt:lpstr>
      <vt:lpstr>Calibri Light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I progetti software sono complessi </vt:lpstr>
      <vt:lpstr>I progetti software sono complessi </vt:lpstr>
      <vt:lpstr>I progetti software sono complessi </vt:lpstr>
      <vt:lpstr>I progetti software sono complessi </vt:lpstr>
      <vt:lpstr>Modellare</vt:lpstr>
      <vt:lpstr>Perché Modellare</vt:lpstr>
      <vt:lpstr>I linguaggi di modellazione</vt:lpstr>
      <vt:lpstr>Che cos’è UML Parte 1</vt:lpstr>
      <vt:lpstr>Che cos’è UML Parte 2</vt:lpstr>
      <vt:lpstr>L come Linguaggio</vt:lpstr>
      <vt:lpstr>U come Uniﬁcato</vt:lpstr>
      <vt:lpstr>Breve storia</vt:lpstr>
      <vt:lpstr>Object-oriented</vt:lpstr>
      <vt:lpstr>Object-oriented</vt:lpstr>
      <vt:lpstr>Principi OO</vt:lpstr>
      <vt:lpstr>Struttura di UML</vt:lpstr>
      <vt:lpstr>Le viste di UML</vt:lpstr>
      <vt:lpstr> Use case</vt:lpstr>
      <vt:lpstr>Design</vt:lpstr>
      <vt:lpstr>Implementation</vt:lpstr>
      <vt:lpstr>Process</vt:lpstr>
      <vt:lpstr>Deployment</vt:lpstr>
      <vt:lpstr>Diagrammi</vt:lpstr>
      <vt:lpstr>Use case Parte 1</vt:lpstr>
      <vt:lpstr>Use case Parte 2</vt:lpstr>
      <vt:lpstr>Diagramma dei casi d’uso</vt:lpstr>
      <vt:lpstr>Casi d’uso e requisiti funzionali</vt:lpstr>
      <vt:lpstr>Il desiderato</vt:lpstr>
      <vt:lpstr>Un esempio: conto in banca</vt:lpstr>
      <vt:lpstr>    Attore</vt:lpstr>
      <vt:lpstr>Come individuare gli attori</vt:lpstr>
      <vt:lpstr>Specializzazione degli attori</vt:lpstr>
      <vt:lpstr>    Use case</vt:lpstr>
      <vt:lpstr>Relazioni tra attori e use case</vt:lpstr>
      <vt:lpstr>Rappresentazioni accessorie</vt:lpstr>
      <vt:lpstr>Generalizzazione tra casi d’uso</vt:lpstr>
      <vt:lpstr>Esempio generalizzazione Casi d’uso</vt:lpstr>
      <vt:lpstr>Generalizzazione tra attori</vt:lpstr>
      <vt:lpstr>Inclusione tra casi d’uso</vt:lpstr>
      <vt:lpstr>Estensione di un caso d’uso</vt:lpstr>
      <vt:lpstr>include /  extend</vt:lpstr>
      <vt:lpstr>Diagramma delle classi</vt:lpstr>
      <vt:lpstr>Esempio</vt:lpstr>
      <vt:lpstr>Classe Parte 1</vt:lpstr>
      <vt:lpstr>Classe Parte 2</vt:lpstr>
      <vt:lpstr>Attributi</vt:lpstr>
      <vt:lpstr>Operazioni/Metodi (firma)</vt:lpstr>
      <vt:lpstr>Visibilità</vt:lpstr>
      <vt:lpstr>Relazioni</vt:lpstr>
      <vt:lpstr>Aggregazione</vt:lpstr>
      <vt:lpstr>Composizione</vt:lpstr>
      <vt:lpstr>Generalizzazione</vt:lpstr>
      <vt:lpstr>Dipendenza</vt:lpstr>
      <vt:lpstr>Classi astratte</vt:lpstr>
      <vt:lpstr>Interfacce</vt:lpstr>
      <vt:lpstr>Realizzazione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Modellare</dc:title>
  <dc:creator>Marcello Valeri</dc:creator>
  <cp:lastModifiedBy>Marcello Valeri</cp:lastModifiedBy>
  <cp:revision>104</cp:revision>
  <dcterms:created xsi:type="dcterms:W3CDTF">2019-05-09T09:58:04Z</dcterms:created>
  <dcterms:modified xsi:type="dcterms:W3CDTF">2026-05-18T10:33:09Z</dcterms:modified>
</cp:coreProperties>
</file>